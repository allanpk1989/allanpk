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3549"/>
                </a:solidFill>
                <a:latin typeface="Arial"/>
              </a:defRPr>
            </a:pPr>
            <a:r>
              <a:rPr sz="1300" b="0" i="0" u="none" strike="noStrike">
                <a:solidFill>
                  <a:srgbClr val="0C3549"/>
                </a:solidFill>
                <a:latin typeface="Arial"/>
              </a:rPr>
              <a:t>Annual production loss, 299.5 h</a:t>
            </a:r>
          </a:p>
        </c:rich>
      </c:tx>
      <c:layout/>
      <c:overlay val="0"/>
    </c:title>
    <c:autoTitleDeleted val="0"/>
    <c:plotArea>
      <c:layout/>
      <c:doughnutChart>
        <c:varyColors val="1"/>
        <c:ser>
          <c:idx val="0"/>
          <c:order val="0"/>
          <c:tx>
            <c:strRef>
              <c:f>Sheet1!$B$1</c:f>
              <c:strCache>
                <c:ptCount val="1"/>
                <c:pt idx="0">
                  <c:v>Annual downtime</c:v>
                </c:pt>
              </c:strCache>
            </c:strRef>
          </c:tx>
          <c:spPr>
            <a:solidFill>
              <a:schemeClr val="accent1"/>
            </a:solidFill>
            <a:ln w="9525" cap="flat">
              <a:solidFill>
                <a:srgbClr val="F9F9F9"/>
              </a:solidFill>
              <a:prstDash val="solid"/>
              <a:round/>
            </a:ln>
            <a:effectLst/>
          </c:spPr>
          <c:dPt>
            <c:idx val="0"/>
            <c:bubble3D val="0"/>
            <c:spPr>
              <a:solidFill>
                <a:srgbClr val="F0A202"/>
              </a:solidFill>
              <a:effectLst/>
            </c:spPr>
          </c:dPt>
          <c:dPt>
            <c:idx val="1"/>
            <c:bubble3D val="0"/>
            <c:spPr>
              <a:solidFill>
                <a:srgbClr val="D9E2E6"/>
              </a:solidFill>
              <a:effectLst/>
            </c:spPr>
          </c:dPt>
          <c:dLbls>
            <c:dLbl>
              <c:idx val="0"/>
              <c:numFmt formatCode="0.0&quot;h&quot;" sourceLinked="0"/>
              <c:spPr/>
              <c:txPr>
                <a:bodyPr/>
                <a:lstStyle/>
                <a:p>
                  <a:pPr>
                    <a:defRPr sz="1200" b="0" i="0" u="none" strike="noStrike">
                      <a:solidFill>
                        <a:srgbClr val="0C3549"/>
                      </a:solidFill>
                      <a:latin typeface="Arial"/>
                    </a:defRPr>
                  </a:pPr>
                </a:p>
              </c:txPr>
              <c:showLegendKey val="0"/>
              <c:showVal val="1"/>
              <c:showCatName val="0"/>
              <c:showSerName val="0"/>
              <c:showPercent val="0"/>
              <c:showBubbleSize val="0"/>
            </c:dLbl>
            <c:dLbl>
              <c:idx val="1"/>
              <c:numFmt formatCode="0.0&quot;h&quot;" sourceLinked="0"/>
              <c:spPr/>
              <c:txPr>
                <a:bodyPr/>
                <a:lstStyle/>
                <a:p>
                  <a:pPr>
                    <a:defRPr sz="1200" b="0" i="0" u="none" strike="noStrike">
                      <a:solidFill>
                        <a:srgbClr val="0C3549"/>
                      </a:solidFill>
                      <a:latin typeface="Arial"/>
                    </a:defRPr>
                  </a:pPr>
                </a:p>
              </c:txPr>
              <c:showLegendKey val="0"/>
              <c:showVal val="1"/>
              <c:showCatName val="0"/>
              <c:showSerName val="0"/>
              <c:showPercent val="0"/>
              <c:showBubbleSize val="0"/>
            </c:dLbl>
            <c:numFmt formatCode="0.0&quot;h&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Within 7 days of a PM</c:v>
                </c:pt>
                <c:pt idx="1">
                  <c:v>All other causes</c:v>
                </c:pt>
              </c:strCache>
            </c:strRef>
          </c:cat>
          <c:val>
            <c:numRef>
              <c:f>Sheet1!$B$2:$B$3</c:f>
              <c:numCache>
                <c:ptCount val="2"/>
                <c:pt idx="0">
                  <c:v>28.1</c:v>
                </c:pt>
                <c:pt idx="1">
                  <c:v>271.4</c:v>
                </c:pt>
              </c:numCache>
            </c:numRef>
          </c:val>
        </c:ser>
        <c:firstSliceAng val="0"/>
        <c:holeSize val="58"/>
      </c:doughnutChart>
      <c:spPr>
        <a:noFill/>
        <a:ln>
          <a:noFill/>
        </a:ln>
        <a:effectLst/>
      </c:spPr>
    </c:plotArea>
    <c:legend>
      <c:legendPos val="b"/>
      <c:overlay val="0"/>
      <c:txPr>
        <a:bodyPr/>
        <a:lstStyle/>
        <a:p>
          <a:pPr>
            <a:defRPr sz="1100">
              <a:solidFill>
                <a:srgbClr val="1F2933"/>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3549"/>
                </a:solidFill>
                <a:latin typeface="Arial"/>
              </a:defRPr>
            </a:pPr>
            <a:r>
              <a:rPr sz="1300" b="0" i="0" u="none" strike="noStrike">
                <a:solidFill>
                  <a:srgbClr val="0C3549"/>
                </a:solidFill>
                <a:latin typeface="Arial"/>
              </a:rPr>
              <a:t>Production hours lost to post-PM breakdowns, by cell</a:t>
            </a:r>
          </a:p>
        </c:rich>
      </c:tx>
      <c:layout/>
      <c:overlay val="0"/>
    </c:title>
    <c:autoTitleDeleted val="0"/>
    <c:plotArea>
      <c:layout/>
      <c:barChart>
        <c:barDir val="bar"/>
        <c:grouping val="clustered"/>
        <c:varyColors val="0"/>
        <c:ser>
          <c:idx val="0"/>
          <c:order val="0"/>
          <c:tx>
            <c:strRef>
              <c:f>Sheet1!$B$1</c:f>
              <c:strCache>
                <c:ptCount val="1"/>
                <c:pt idx="0">
                  <c:v>Hours lost within 7 days of a PM</c:v>
                </c:pt>
              </c:strCache>
            </c:strRef>
          </c:tx>
          <c:spPr>
            <a:solidFill>
              <a:srgbClr val="F0A202"/>
            </a:solidFill>
            <a:effectLst/>
          </c:spPr>
          <c:invertIfNegative val="0"/>
          <c:dLbls>
            <c:numFmt formatCode="0.0&quot;h&quot;" sourceLinked="0"/>
            <c:txPr>
              <a:bodyPr/>
              <a:lstStyle/>
              <a:p>
                <a:pPr>
                  <a:defRPr b="0" i="0" strike="noStrike" sz="1100" u="none">
                    <a:solidFill>
                      <a:srgbClr val="0C3549"/>
                    </a:solidFill>
                    <a:latin typeface="Arial"/>
                  </a:defRPr>
                </a:pPr>
              </a:p>
            </c:txPr>
            <c:showLegendKey val="0"/>
            <c:showVal val="1"/>
            <c:showCatName val="0"/>
            <c:showSerName val="0"/>
            <c:showPercent val="0"/>
            <c:showBubbleSize val="0"/>
            <c:showLeaderLines val="0"/>
          </c:dLbls>
          <c:cat>
            <c:multiLvlStrRef>
              <c:f>Sheet1!$A$2:$A$9</c:f>
              <c:multiLvlStrCache>
                <c:ptCount val="8"/>
                <c:lvl>
                  <c:pt idx="0">
                    <c:v>Curing / Autoclave</c:v>
                  </c:pt>
                  <c:pt idx="1">
                    <c:v>Cap Fitting</c:v>
                  </c:pt>
                  <c:pt idx="2">
                    <c:v>Testing &amp; Calibration</c:v>
                  </c:pt>
                  <c:pt idx="3">
                    <c:v>Assembly NH</c:v>
                  </c:pt>
                  <c:pt idx="4">
                    <c:v>Sand Filling</c:v>
                  </c:pt>
                  <c:pt idx="5">
                    <c:v>Element Punching</c:v>
                  </c:pt>
                  <c:pt idx="6">
                    <c:v>Element Welding</c:v>
                  </c:pt>
                  <c:pt idx="7">
                    <c:v>Marking &amp; Packing</c:v>
                  </c:pt>
                </c:lvl>
              </c:multiLvlStrCache>
            </c:multiLvlStrRef>
          </c:cat>
          <c:val>
            <c:numRef>
              <c:f>Sheet1!$B$2:$B$9</c:f>
              <c:numCache>
                <c:formatCode>General</c:formatCode>
                <c:ptCount val="8"/>
                <c:pt idx="0">
                  <c:v>10.2</c:v>
                </c:pt>
                <c:pt idx="1">
                  <c:v>8.4</c:v>
                </c:pt>
                <c:pt idx="2">
                  <c:v>4.9</c:v>
                </c:pt>
                <c:pt idx="3">
                  <c:v>3</c:v>
                </c:pt>
                <c:pt idx="4">
                  <c:v>1.6</c:v>
                </c:pt>
                <c:pt idx="5">
                  <c:v>0</c:v>
                </c:pt>
                <c:pt idx="6">
                  <c:v>0</c:v>
                </c:pt>
                <c:pt idx="7">
                  <c:v>0</c:v>
                </c:pt>
              </c:numCache>
            </c:numRef>
          </c:val>
        </c:ser>
        <c:dLbls>
          <c:numFmt formatCode="0.0&quot;h&quot;" sourceLinked="0"/>
          <c:txPr>
            <a:bodyPr/>
            <a:lstStyle/>
            <a:p>
              <a:pPr>
                <a:defRPr b="0" i="0" strike="noStrike" sz="1100" u="none">
                  <a:solidFill>
                    <a:srgbClr val="0C3549"/>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933"/>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DF1F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7B879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we are not asking for money to build the system. The system is built and it works. We are asking for a licence that closes four specific gaps, and here is what those gaps cost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Establish credibility before asking for anything. The system works, it cost no extra licence, and it runs unattended.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specific. A vague 'better user experience' request gets declined. Four named gaps, each with a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carries the argument. 28.1 hours is measured from our own data, not estimated. If asked why it is not the 34.4 quoted earlier: a PM is now dated from its own machine scans rather than a stored column, and docs/ASSUMPTIONS.md section 9.1 shows the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'this is a big rollout'. It is four cells and six people. It can be piloted and reversed.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is already specified. This is not a discovery project - the risk is low and the estimate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assert a price. The grid lets them find their own row. The percentage column is the honest test: is it plausible that better capture prevents that share of post-PM breakdowns?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removing the pressure. A request that survives a 'no' without drama is easier to say yes to. Offer the 6-month review as the reversal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the checkability up front. It is the difference between a number someone believes and a number someone can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3549"/>
        </a:solidFill>
      </p:bgPr>
    </p:bg>
    <p:spTree>
      <p:nvGrpSpPr>
        <p:cNvPr id="1" name=""/>
        <p:cNvGrpSpPr/>
        <p:nvPr/>
      </p:nvGrpSpPr>
      <p:grpSpPr>
        <a:xfrm>
          <a:off x="0" y="0"/>
          <a:ext cx="0" cy="0"/>
          <a:chOff x="0" y="0"/>
          <a:chExt cx="0" cy="0"/>
        </a:xfrm>
      </p:grpSpPr>
      <p:sp>
        <p:nvSpPr>
          <p:cNvPr id="2" name="Text 0"/>
          <p:cNvSpPr txBox="1"/>
          <p:nvPr/>
        </p:nvSpPr>
        <p:spPr>
          <a:xfrm>
            <a:off x="594360" y="2057400"/>
            <a:ext cx="9601200" cy="8229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Power Apps licence request</a:t>
            </a:r>
            <a:endParaRPr lang="en-US" sz="4600" dirty="0"/>
          </a:p>
        </p:txBody>
      </p:sp>
      <p:sp>
        <p:nvSpPr>
          <p:cNvPr id="3" name="Text 1"/>
          <p:cNvSpPr txBox="1"/>
          <p:nvPr/>
        </p:nvSpPr>
        <p:spPr>
          <a:xfrm>
            <a:off x="594360" y="2907792"/>
            <a:ext cx="9601200" cy="457200"/>
          </a:xfrm>
          <a:prstGeom prst="rect">
            <a:avLst/>
          </a:prstGeom>
          <a:noFill/>
          <a:ln/>
        </p:spPr>
        <p:txBody>
          <a:bodyPr wrap="square" lIns="0" tIns="0" rIns="0" bIns="0" rtlCol="0" anchor="ctr"/>
          <a:lstStyle/>
          <a:p>
            <a:pPr indent="0" marL="0">
              <a:buNone/>
            </a:pPr>
            <a:r>
              <a:rPr lang="en-US" sz="2200" dirty="0">
                <a:solidFill>
                  <a:srgbClr val="F0A202"/>
                </a:solidFill>
                <a:latin typeface="Cambria" pitchFamily="34" charset="0"/>
                <a:ea typeface="Cambria" pitchFamily="34" charset="-122"/>
                <a:cs typeface="Cambria" pitchFamily="34" charset="-120"/>
              </a:rPr>
              <a:t>Preventive maintenance system  ·  Phase 2</a:t>
            </a:r>
            <a:endParaRPr lang="en-US" sz="2200" dirty="0"/>
          </a:p>
        </p:txBody>
      </p:sp>
      <p:sp>
        <p:nvSpPr>
          <p:cNvPr id="4" name="Text 2"/>
          <p:cNvSpPr txBox="1"/>
          <p:nvPr/>
        </p:nvSpPr>
        <p:spPr>
          <a:xfrm>
            <a:off x="594360" y="3611880"/>
            <a:ext cx="7863840" cy="822960"/>
          </a:xfrm>
          <a:prstGeom prst="rect">
            <a:avLst/>
          </a:prstGeom>
          <a:noFill/>
          <a:ln/>
        </p:spPr>
        <p:txBody>
          <a:bodyPr wrap="square" lIns="0" tIns="0" rIns="0" bIns="0" rtlCol="0" anchor="ctr"/>
          <a:lstStyle/>
          <a:p>
            <a:pPr indent="0" marL="0">
              <a:lnSpc>
                <a:spcPct val="125000"/>
              </a:lnSpc>
              <a:buNone/>
            </a:pPr>
            <a:r>
              <a:rPr lang="en-US" sz="1500" dirty="0">
                <a:solidFill>
                  <a:srgbClr val="B9CBD4"/>
                </a:solidFill>
                <a:latin typeface="Calibri" pitchFamily="34" charset="0"/>
                <a:ea typeface="Calibri" pitchFamily="34" charset="-122"/>
                <a:cs typeface="Calibri" pitchFamily="34" charset="-120"/>
              </a:rPr>
              <a:t>The PM system is live and working without it. This asks for the licence that closes the four gaps the current front end cannot, and shows what those gaps cost.</a:t>
            </a:r>
            <a:endParaRPr lang="en-US" sz="1500" dirty="0"/>
          </a:p>
        </p:txBody>
      </p:sp>
      <p:sp>
        <p:nvSpPr>
          <p:cNvPr id="5" name="Text 3"/>
          <p:cNvSpPr txBox="1"/>
          <p:nvPr/>
        </p:nvSpPr>
        <p:spPr>
          <a:xfrm>
            <a:off x="594360" y="5989320"/>
            <a:ext cx="9144000" cy="320040"/>
          </a:xfrm>
          <a:prstGeom prst="rect">
            <a:avLst/>
          </a:prstGeom>
          <a:noFill/>
          <a:ln/>
        </p:spPr>
        <p:txBody>
          <a:bodyPr wrap="square" lIns="0" tIns="0" rIns="0" bIns="0" rtlCol="0" anchor="ctr"/>
          <a:lstStyle/>
          <a:p>
            <a:pPr indent="0" marL="0">
              <a:buNone/>
            </a:pPr>
            <a:r>
              <a:rPr lang="en-US" sz="1100" dirty="0">
                <a:solidFill>
                  <a:srgbClr val="7B8794"/>
                </a:solidFill>
                <a:latin typeface="Calibri" pitchFamily="34" charset="0"/>
                <a:ea typeface="Calibri" pitchFamily="34" charset="-122"/>
                <a:cs typeface="Calibri" pitchFamily="34" charset="-120"/>
              </a:rPr>
              <a:t>Eaton Power Quality Pvt Ltd  ·  Pondicherry  ·  Maintenance Engineering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11480"/>
            <a:ext cx="10972800" cy="685800"/>
          </a:xfrm>
          <a:prstGeom prst="rect">
            <a:avLst/>
          </a:prstGeom>
          <a:noFill/>
          <a:ln/>
        </p:spPr>
        <p:txBody>
          <a:bodyPr wrap="square" lIns="0" tIns="0" rIns="0" bIns="0" rtlCol="0" anchor="ctr"/>
          <a:lstStyle/>
          <a:p>
            <a:pPr indent="0" marL="0">
              <a:buNone/>
            </a:pPr>
            <a:r>
              <a:rPr lang="en-US" sz="3200" b="1" dirty="0">
                <a:solidFill>
                  <a:srgbClr val="0C3549"/>
                </a:solidFill>
                <a:latin typeface="Cambria" pitchFamily="34" charset="0"/>
                <a:ea typeface="Cambria" pitchFamily="34" charset="-122"/>
                <a:cs typeface="Cambria" pitchFamily="34" charset="-120"/>
              </a:rPr>
              <a:t>The system is already live</a:t>
            </a:r>
            <a:endParaRPr lang="en-US" sz="3200" dirty="0"/>
          </a:p>
        </p:txBody>
      </p:sp>
      <p:sp>
        <p:nvSpPr>
          <p:cNvPr id="3" name="Text 1"/>
          <p:cNvSpPr txBox="1"/>
          <p:nvPr/>
        </p:nvSpPr>
        <p:spPr>
          <a:xfrm>
            <a:off x="594360" y="1078992"/>
            <a:ext cx="10972800" cy="365760"/>
          </a:xfrm>
          <a:prstGeom prst="rect">
            <a:avLst/>
          </a:prstGeom>
          <a:noFill/>
          <a:ln/>
        </p:spPr>
        <p:txBody>
          <a:bodyPr wrap="square" lIns="0" tIns="0" rIns="0" bIns="0" rtlCol="0" anchor="ctr"/>
          <a:lstStyle/>
          <a:p>
            <a:pPr indent="0" marL="0">
              <a:buNone/>
            </a:pPr>
            <a:r>
              <a:rPr lang="en-US" sz="1400" i="1" dirty="0">
                <a:solidFill>
                  <a:srgbClr val="7B8794"/>
                </a:solidFill>
                <a:latin typeface="Calibri" pitchFamily="34" charset="0"/>
                <a:ea typeface="Calibri" pitchFamily="34" charset="-122"/>
                <a:cs typeface="Calibri" pitchFamily="34" charset="-120"/>
              </a:rPr>
              <a:t>Delivered on Microsoft 365 E3. No additional licence was purchased.</a:t>
            </a:r>
            <a:endParaRPr lang="en-US" sz="1400" dirty="0"/>
          </a:p>
        </p:txBody>
      </p:sp>
      <p:sp>
        <p:nvSpPr>
          <p:cNvPr id="4" name="Shape 2"/>
          <p:cNvSpPr/>
          <p:nvPr/>
        </p:nvSpPr>
        <p:spPr>
          <a:xfrm>
            <a:off x="594360" y="1691640"/>
            <a:ext cx="2537460" cy="1874520"/>
          </a:xfrm>
          <a:prstGeom prst="roundRect">
            <a:avLst>
              <a:gd name="adj" fmla="val 2927"/>
            </a:avLst>
          </a:prstGeom>
          <a:solidFill>
            <a:srgbClr val="F5F7F8"/>
          </a:solidFill>
          <a:ln/>
          <a:effectLst>
            <a:outerShdw sx="100000" sy="100000" kx="0" ky="0" algn="bl" rotWithShape="0" blurRad="101600" dist="12700" dir="5400000">
              <a:srgbClr val="0C3549">
                <a:alpha val="7000"/>
              </a:srgbClr>
            </a:outerShdw>
          </a:effectLst>
        </p:spPr>
      </p:sp>
      <p:sp>
        <p:nvSpPr>
          <p:cNvPr id="5" name="Text 3"/>
          <p:cNvSpPr txBox="1"/>
          <p:nvPr/>
        </p:nvSpPr>
        <p:spPr>
          <a:xfrm>
            <a:off x="850392" y="1920240"/>
            <a:ext cx="2025396" cy="868680"/>
          </a:xfrm>
          <a:prstGeom prst="rect">
            <a:avLst/>
          </a:prstGeom>
          <a:noFill/>
          <a:ln/>
        </p:spPr>
        <p:txBody>
          <a:bodyPr wrap="square" lIns="0" tIns="0" rIns="0" bIns="0" rtlCol="0" anchor="ctr"/>
          <a:lstStyle/>
          <a:p>
            <a:pPr indent="0" marL="0">
              <a:buNone/>
            </a:pPr>
            <a:r>
              <a:rPr lang="en-US" sz="4400" b="1" dirty="0">
                <a:solidFill>
                  <a:srgbClr val="0C3549"/>
                </a:solidFill>
                <a:latin typeface="Cambria" pitchFamily="34" charset="0"/>
                <a:ea typeface="Cambria" pitchFamily="34" charset="-122"/>
                <a:cs typeface="Cambria" pitchFamily="34" charset="-120"/>
              </a:rPr>
              <a:t>14</a:t>
            </a:r>
            <a:endParaRPr lang="en-US" sz="4400" dirty="0"/>
          </a:p>
        </p:txBody>
      </p:sp>
      <p:sp>
        <p:nvSpPr>
          <p:cNvPr id="6" name="Text 4"/>
          <p:cNvSpPr txBox="1"/>
          <p:nvPr/>
        </p:nvSpPr>
        <p:spPr>
          <a:xfrm>
            <a:off x="850392" y="2761488"/>
            <a:ext cx="2025396" cy="292608"/>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SharePoint lists</a:t>
            </a:r>
            <a:endParaRPr lang="en-US" sz="1300" dirty="0"/>
          </a:p>
        </p:txBody>
      </p:sp>
      <p:sp>
        <p:nvSpPr>
          <p:cNvPr id="7" name="Text 5"/>
          <p:cNvSpPr txBox="1"/>
          <p:nvPr/>
        </p:nvSpPr>
        <p:spPr>
          <a:xfrm>
            <a:off x="850392" y="3035808"/>
            <a:ext cx="2025396" cy="548640"/>
          </a:xfrm>
          <a:prstGeom prst="rect">
            <a:avLst/>
          </a:prstGeom>
          <a:noFill/>
          <a:ln/>
        </p:spPr>
        <p:txBody>
          <a:bodyPr wrap="square" lIns="0" tIns="0" rIns="0" bIns="0" rtlCol="0" anchor="ctr"/>
          <a:lstStyle/>
          <a:p>
            <a:pPr indent="0" marL="0">
              <a:buNone/>
            </a:pPr>
            <a:r>
              <a:rPr lang="en-US" sz="1100" dirty="0">
                <a:solidFill>
                  <a:srgbClr val="7B8794"/>
                </a:solidFill>
                <a:latin typeface="Calibri" pitchFamily="34" charset="0"/>
                <a:ea typeface="Calibri" pitchFamily="34" charset="-122"/>
                <a:cs typeface="Calibri" pitchFamily="34" charset="-120"/>
              </a:rPr>
              <a:t>Every PM record, indexed and versioned</a:t>
            </a:r>
            <a:endParaRPr lang="en-US" sz="1100" dirty="0"/>
          </a:p>
        </p:txBody>
      </p:sp>
      <p:sp>
        <p:nvSpPr>
          <p:cNvPr id="8" name="Shape 6"/>
          <p:cNvSpPr/>
          <p:nvPr/>
        </p:nvSpPr>
        <p:spPr>
          <a:xfrm>
            <a:off x="3406140" y="1691640"/>
            <a:ext cx="2537460" cy="1874520"/>
          </a:xfrm>
          <a:prstGeom prst="roundRect">
            <a:avLst>
              <a:gd name="adj" fmla="val 2927"/>
            </a:avLst>
          </a:prstGeom>
          <a:solidFill>
            <a:srgbClr val="F5F7F8"/>
          </a:solidFill>
          <a:ln/>
          <a:effectLst>
            <a:outerShdw sx="100000" sy="100000" kx="0" ky="0" algn="bl" rotWithShape="0" blurRad="101600" dist="12700" dir="5400000">
              <a:srgbClr val="0C3549">
                <a:alpha val="7000"/>
              </a:srgbClr>
            </a:outerShdw>
          </a:effectLst>
        </p:spPr>
      </p:sp>
      <p:sp>
        <p:nvSpPr>
          <p:cNvPr id="9" name="Text 7"/>
          <p:cNvSpPr txBox="1"/>
          <p:nvPr/>
        </p:nvSpPr>
        <p:spPr>
          <a:xfrm>
            <a:off x="3662172" y="1920240"/>
            <a:ext cx="2025396" cy="868680"/>
          </a:xfrm>
          <a:prstGeom prst="rect">
            <a:avLst/>
          </a:prstGeom>
          <a:noFill/>
          <a:ln/>
        </p:spPr>
        <p:txBody>
          <a:bodyPr wrap="square" lIns="0" tIns="0" rIns="0" bIns="0" rtlCol="0" anchor="ctr"/>
          <a:lstStyle/>
          <a:p>
            <a:pPr indent="0" marL="0">
              <a:buNone/>
            </a:pPr>
            <a:r>
              <a:rPr lang="en-US" sz="4400" b="1" dirty="0">
                <a:solidFill>
                  <a:srgbClr val="0C3549"/>
                </a:solidFill>
                <a:latin typeface="Cambria" pitchFamily="34" charset="0"/>
                <a:ea typeface="Cambria" pitchFamily="34" charset="-122"/>
                <a:cs typeface="Cambria" pitchFamily="34" charset="-120"/>
              </a:rPr>
              <a:t>9</a:t>
            </a:r>
            <a:endParaRPr lang="en-US" sz="4400" dirty="0"/>
          </a:p>
        </p:txBody>
      </p:sp>
      <p:sp>
        <p:nvSpPr>
          <p:cNvPr id="10" name="Text 8"/>
          <p:cNvSpPr txBox="1"/>
          <p:nvPr/>
        </p:nvSpPr>
        <p:spPr>
          <a:xfrm>
            <a:off x="3662172" y="2761488"/>
            <a:ext cx="2025396" cy="292608"/>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Automated flows</a:t>
            </a:r>
            <a:endParaRPr lang="en-US" sz="1300" dirty="0"/>
          </a:p>
        </p:txBody>
      </p:sp>
      <p:sp>
        <p:nvSpPr>
          <p:cNvPr id="11" name="Text 9"/>
          <p:cNvSpPr txBox="1"/>
          <p:nvPr/>
        </p:nvSpPr>
        <p:spPr>
          <a:xfrm>
            <a:off x="3662172" y="3035808"/>
            <a:ext cx="2025396" cy="548640"/>
          </a:xfrm>
          <a:prstGeom prst="rect">
            <a:avLst/>
          </a:prstGeom>
          <a:noFill/>
          <a:ln/>
        </p:spPr>
        <p:txBody>
          <a:bodyPr wrap="square" lIns="0" tIns="0" rIns="0" bIns="0" rtlCol="0" anchor="ctr"/>
          <a:lstStyle/>
          <a:p>
            <a:pPr indent="0" marL="0">
              <a:buNone/>
            </a:pPr>
            <a:r>
              <a:rPr lang="en-US" sz="1100" dirty="0">
                <a:solidFill>
                  <a:srgbClr val="7B8794"/>
                </a:solidFill>
                <a:latin typeface="Calibri" pitchFamily="34" charset="0"/>
                <a:ea typeface="Calibri" pitchFamily="34" charset="-122"/>
                <a:cs typeface="Calibri" pitchFamily="34" charset="-120"/>
              </a:rPr>
              <a:t>Trigger, reset, escalation, digest</a:t>
            </a:r>
            <a:endParaRPr lang="en-US" sz="1100" dirty="0"/>
          </a:p>
        </p:txBody>
      </p:sp>
      <p:sp>
        <p:nvSpPr>
          <p:cNvPr id="12" name="Shape 10"/>
          <p:cNvSpPr/>
          <p:nvPr/>
        </p:nvSpPr>
        <p:spPr>
          <a:xfrm>
            <a:off x="6217920" y="1691640"/>
            <a:ext cx="2537460" cy="1874520"/>
          </a:xfrm>
          <a:prstGeom prst="roundRect">
            <a:avLst>
              <a:gd name="adj" fmla="val 2927"/>
            </a:avLst>
          </a:prstGeom>
          <a:solidFill>
            <a:srgbClr val="F5F7F8"/>
          </a:solidFill>
          <a:ln/>
          <a:effectLst>
            <a:outerShdw sx="100000" sy="100000" kx="0" ky="0" algn="bl" rotWithShape="0" blurRad="101600" dist="12700" dir="5400000">
              <a:srgbClr val="0C3549">
                <a:alpha val="7000"/>
              </a:srgbClr>
            </a:outerShdw>
          </a:effectLst>
        </p:spPr>
      </p:sp>
      <p:sp>
        <p:nvSpPr>
          <p:cNvPr id="13" name="Text 11"/>
          <p:cNvSpPr txBox="1"/>
          <p:nvPr/>
        </p:nvSpPr>
        <p:spPr>
          <a:xfrm>
            <a:off x="6473952" y="1920240"/>
            <a:ext cx="2025396" cy="868680"/>
          </a:xfrm>
          <a:prstGeom prst="rect">
            <a:avLst/>
          </a:prstGeom>
          <a:noFill/>
          <a:ln/>
        </p:spPr>
        <p:txBody>
          <a:bodyPr wrap="square" lIns="0" tIns="0" rIns="0" bIns="0" rtlCol="0" anchor="ctr"/>
          <a:lstStyle/>
          <a:p>
            <a:pPr indent="0" marL="0">
              <a:buNone/>
            </a:pPr>
            <a:r>
              <a:rPr lang="en-US" sz="4400" b="1" dirty="0">
                <a:solidFill>
                  <a:srgbClr val="0C3549"/>
                </a:solidFill>
                <a:latin typeface="Cambria" pitchFamily="34" charset="0"/>
                <a:ea typeface="Cambria" pitchFamily="34" charset="-122"/>
                <a:cs typeface="Cambria" pitchFamily="34" charset="-120"/>
              </a:rPr>
              <a:t>9</a:t>
            </a:r>
            <a:endParaRPr lang="en-US" sz="4400" dirty="0"/>
          </a:p>
        </p:txBody>
      </p:sp>
      <p:sp>
        <p:nvSpPr>
          <p:cNvPr id="14" name="Text 12"/>
          <p:cNvSpPr txBox="1"/>
          <p:nvPr/>
        </p:nvSpPr>
        <p:spPr>
          <a:xfrm>
            <a:off x="6473952" y="2761488"/>
            <a:ext cx="2025396" cy="292608"/>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Dashboard pages</a:t>
            </a:r>
            <a:endParaRPr lang="en-US" sz="1300" dirty="0"/>
          </a:p>
        </p:txBody>
      </p:sp>
      <p:sp>
        <p:nvSpPr>
          <p:cNvPr id="15" name="Text 13"/>
          <p:cNvSpPr txBox="1"/>
          <p:nvPr/>
        </p:nvSpPr>
        <p:spPr>
          <a:xfrm>
            <a:off x="6473952" y="3035808"/>
            <a:ext cx="2025396" cy="548640"/>
          </a:xfrm>
          <a:prstGeom prst="rect">
            <a:avLst/>
          </a:prstGeom>
          <a:noFill/>
          <a:ln/>
        </p:spPr>
        <p:txBody>
          <a:bodyPr wrap="square" lIns="0" tIns="0" rIns="0" bIns="0" rtlCol="0" anchor="ctr"/>
          <a:lstStyle/>
          <a:p>
            <a:pPr indent="0" marL="0">
              <a:buNone/>
            </a:pPr>
            <a:r>
              <a:rPr lang="en-US" sz="1100" dirty="0">
                <a:solidFill>
                  <a:srgbClr val="7B8794"/>
                </a:solidFill>
                <a:latin typeface="Calibri" pitchFamily="34" charset="0"/>
                <a:ea typeface="Calibri" pitchFamily="34" charset="-122"/>
                <a:cs typeface="Calibri" pitchFamily="34" charset="-120"/>
              </a:rPr>
              <a:t>85 measures, refreshed twice daily</a:t>
            </a:r>
            <a:endParaRPr lang="en-US" sz="1100" dirty="0"/>
          </a:p>
        </p:txBody>
      </p:sp>
      <p:sp>
        <p:nvSpPr>
          <p:cNvPr id="16" name="Shape 14"/>
          <p:cNvSpPr/>
          <p:nvPr/>
        </p:nvSpPr>
        <p:spPr>
          <a:xfrm>
            <a:off x="9029700" y="1691640"/>
            <a:ext cx="2537460" cy="1874520"/>
          </a:xfrm>
          <a:prstGeom prst="roundRect">
            <a:avLst>
              <a:gd name="adj" fmla="val 2927"/>
            </a:avLst>
          </a:prstGeom>
          <a:solidFill>
            <a:srgbClr val="F5F7F8"/>
          </a:solidFill>
          <a:ln/>
          <a:effectLst>
            <a:outerShdw sx="100000" sy="100000" kx="0" ky="0" algn="bl" rotWithShape="0" blurRad="101600" dist="12700" dir="5400000">
              <a:srgbClr val="0C3549">
                <a:alpha val="7000"/>
              </a:srgbClr>
            </a:outerShdw>
          </a:effectLst>
        </p:spPr>
      </p:sp>
      <p:sp>
        <p:nvSpPr>
          <p:cNvPr id="17" name="Text 15"/>
          <p:cNvSpPr txBox="1"/>
          <p:nvPr/>
        </p:nvSpPr>
        <p:spPr>
          <a:xfrm>
            <a:off x="9285732" y="1920240"/>
            <a:ext cx="2025396" cy="868680"/>
          </a:xfrm>
          <a:prstGeom prst="rect">
            <a:avLst/>
          </a:prstGeom>
          <a:noFill/>
          <a:ln/>
        </p:spPr>
        <p:txBody>
          <a:bodyPr wrap="square" lIns="0" tIns="0" rIns="0" bIns="0" rtlCol="0" anchor="ctr"/>
          <a:lstStyle/>
          <a:p>
            <a:pPr indent="0" marL="0">
              <a:buNone/>
            </a:pPr>
            <a:r>
              <a:rPr lang="en-US" sz="4400" b="1" dirty="0">
                <a:solidFill>
                  <a:srgbClr val="0C3549"/>
                </a:solidFill>
                <a:latin typeface="Cambria" pitchFamily="34" charset="0"/>
                <a:ea typeface="Cambria" pitchFamily="34" charset="-122"/>
                <a:cs typeface="Cambria" pitchFamily="34" charset="-120"/>
              </a:rPr>
              <a:t>30</a:t>
            </a:r>
            <a:endParaRPr lang="en-US" sz="4400" dirty="0"/>
          </a:p>
        </p:txBody>
      </p:sp>
      <p:sp>
        <p:nvSpPr>
          <p:cNvPr id="18" name="Text 16"/>
          <p:cNvSpPr txBox="1"/>
          <p:nvPr/>
        </p:nvSpPr>
        <p:spPr>
          <a:xfrm>
            <a:off x="9285732" y="2761488"/>
            <a:ext cx="2025396" cy="292608"/>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QR-tagged machines</a:t>
            </a:r>
            <a:endParaRPr lang="en-US" sz="1300" dirty="0"/>
          </a:p>
        </p:txBody>
      </p:sp>
      <p:sp>
        <p:nvSpPr>
          <p:cNvPr id="19" name="Text 17"/>
          <p:cNvSpPr txBox="1"/>
          <p:nvPr/>
        </p:nvSpPr>
        <p:spPr>
          <a:xfrm>
            <a:off x="9285732" y="3035808"/>
            <a:ext cx="2025396" cy="548640"/>
          </a:xfrm>
          <a:prstGeom prst="rect">
            <a:avLst/>
          </a:prstGeom>
          <a:noFill/>
          <a:ln/>
        </p:spPr>
        <p:txBody>
          <a:bodyPr wrap="square" lIns="0" tIns="0" rIns="0" bIns="0" rtlCol="0" anchor="ctr"/>
          <a:lstStyle/>
          <a:p>
            <a:pPr indent="0" marL="0">
              <a:buNone/>
            </a:pPr>
            <a:r>
              <a:rPr lang="en-US" sz="1100" dirty="0">
                <a:solidFill>
                  <a:srgbClr val="7B8794"/>
                </a:solidFill>
                <a:latin typeface="Calibri" pitchFamily="34" charset="0"/>
                <a:ea typeface="Calibri" pitchFamily="34" charset="-122"/>
                <a:cs typeface="Calibri" pitchFamily="34" charset="-120"/>
              </a:rPr>
              <a:t>Scan opens that machine's hub</a:t>
            </a:r>
            <a:endParaRPr lang="en-US" sz="1100" dirty="0"/>
          </a:p>
        </p:txBody>
      </p:sp>
      <p:sp>
        <p:nvSpPr>
          <p:cNvPr id="20" name="Text 18"/>
          <p:cNvSpPr txBox="1"/>
          <p:nvPr/>
        </p:nvSpPr>
        <p:spPr>
          <a:xfrm>
            <a:off x="594360" y="3886200"/>
            <a:ext cx="10972800" cy="365760"/>
          </a:xfrm>
          <a:prstGeom prst="rect">
            <a:avLst/>
          </a:prstGeom>
          <a:noFill/>
          <a:ln/>
        </p:spPr>
        <p:txBody>
          <a:bodyPr wrap="square" lIns="0" tIns="0" rIns="0" bIns="0" rtlCol="0" anchor="ctr"/>
          <a:lstStyle/>
          <a:p>
            <a:pPr indent="0" marL="0">
              <a:buNone/>
            </a:pPr>
            <a:r>
              <a:rPr lang="en-US" sz="1700" b="1" dirty="0">
                <a:solidFill>
                  <a:srgbClr val="0C3549"/>
                </a:solidFill>
                <a:latin typeface="Cambria" pitchFamily="34" charset="0"/>
                <a:ea typeface="Cambria" pitchFamily="34" charset="-122"/>
                <a:cs typeface="Cambria" pitchFamily="34" charset="-120"/>
              </a:rPr>
              <a:t>What it does today, unattended</a:t>
            </a:r>
            <a:endParaRPr lang="en-US" sz="1700" dirty="0"/>
          </a:p>
        </p:txBody>
      </p:sp>
      <p:sp>
        <p:nvSpPr>
          <p:cNvPr id="21" name="Text 19"/>
          <p:cNvSpPr txBox="1"/>
          <p:nvPr/>
        </p:nvSpPr>
        <p:spPr>
          <a:xfrm>
            <a:off x="640080" y="4279392"/>
            <a:ext cx="10881360" cy="15087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Adds each month's standard hours to every cell's running counter, prorated by working days when a PM reset falls mid-month</a:t>
            </a:r>
            <a:endParaRPr lang="en-US" sz="1300" dirty="0"/>
          </a:p>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Raises a work order the morning a cell reaches 4,000 hours, or six months, whichever comes first</a:t>
            </a:r>
            <a:endParaRPr lang="en-US" sz="1300" dirty="0"/>
          </a:p>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Resets the counter only when every machine in the cell is complete - never on a partial cell</a:t>
            </a:r>
            <a:endParaRPr lang="en-US" sz="1300" dirty="0"/>
          </a:p>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Escalates a safety-critical finding immediately and blocks the cell from closing behind it</a:t>
            </a:r>
            <a:endParaRPr lang="en-US" sz="1300" dirty="0"/>
          </a:p>
        </p:txBody>
      </p:sp>
      <p:sp>
        <p:nvSpPr>
          <p:cNvPr id="22" name="Text 20"/>
          <p:cNvSpPr txBox="1"/>
          <p:nvPr/>
        </p:nvSpPr>
        <p:spPr>
          <a:xfrm>
            <a:off x="594360" y="6355080"/>
            <a:ext cx="10972800" cy="274320"/>
          </a:xfrm>
          <a:prstGeom prst="rect">
            <a:avLst/>
          </a:prstGeom>
          <a:noFill/>
          <a:ln/>
        </p:spPr>
        <p:txBody>
          <a:bodyPr wrap="square" lIns="0" tIns="0" rIns="0" bIns="0" rtlCol="0" anchor="ctr"/>
          <a:lstStyle/>
          <a:p>
            <a:pPr indent="0" marL="0">
              <a:buNone/>
            </a:pPr>
            <a:r>
              <a:rPr lang="en-US" sz="900" dirty="0">
                <a:solidFill>
                  <a:srgbClr val="7B8794"/>
                </a:solidFill>
                <a:latin typeface="Calibri" pitchFamily="34" charset="0"/>
                <a:ea typeface="Calibri" pitchFamily="34" charset="-122"/>
                <a:cs typeface="Calibri" pitchFamily="34" charset="-120"/>
              </a:rPr>
              <a:t>Figures from the system as built. Twelve months of plant data loaded and verified.</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11480"/>
            <a:ext cx="10972800" cy="685800"/>
          </a:xfrm>
          <a:prstGeom prst="rect">
            <a:avLst/>
          </a:prstGeom>
          <a:noFill/>
          <a:ln/>
        </p:spPr>
        <p:txBody>
          <a:bodyPr wrap="square" lIns="0" tIns="0" rIns="0" bIns="0" rtlCol="0" anchor="ctr"/>
          <a:lstStyle/>
          <a:p>
            <a:pPr indent="0" marL="0">
              <a:buNone/>
            </a:pPr>
            <a:r>
              <a:rPr lang="en-US" sz="3200" b="1" dirty="0">
                <a:solidFill>
                  <a:srgbClr val="0C3549"/>
                </a:solidFill>
                <a:latin typeface="Cambria" pitchFamily="34" charset="0"/>
                <a:ea typeface="Cambria" pitchFamily="34" charset="-122"/>
                <a:cs typeface="Cambria" pitchFamily="34" charset="-120"/>
              </a:rPr>
              <a:t>Four things the current front end cannot do</a:t>
            </a:r>
            <a:endParaRPr lang="en-US" sz="3200" dirty="0"/>
          </a:p>
        </p:txBody>
      </p:sp>
      <p:sp>
        <p:nvSpPr>
          <p:cNvPr id="3" name="Text 1"/>
          <p:cNvSpPr txBox="1"/>
          <p:nvPr/>
        </p:nvSpPr>
        <p:spPr>
          <a:xfrm>
            <a:off x="594360" y="1078992"/>
            <a:ext cx="10972800" cy="365760"/>
          </a:xfrm>
          <a:prstGeom prst="rect">
            <a:avLst/>
          </a:prstGeom>
          <a:noFill/>
          <a:ln/>
        </p:spPr>
        <p:txBody>
          <a:bodyPr wrap="square" lIns="0" tIns="0" rIns="0" bIns="0" rtlCol="0" anchor="ctr"/>
          <a:lstStyle/>
          <a:p>
            <a:pPr indent="0" marL="0">
              <a:buNone/>
            </a:pPr>
            <a:r>
              <a:rPr lang="en-US" sz="1400" i="1" dirty="0">
                <a:solidFill>
                  <a:srgbClr val="7B8794"/>
                </a:solidFill>
                <a:latin typeface="Calibri" pitchFamily="34" charset="0"/>
                <a:ea typeface="Calibri" pitchFamily="34" charset="-122"/>
                <a:cs typeface="Calibri" pitchFamily="34" charset="-120"/>
              </a:rPr>
              <a:t>Microsoft Forms is a form. These are not form problems.</a:t>
            </a:r>
            <a:endParaRPr lang="en-US" sz="1400" dirty="0"/>
          </a:p>
        </p:txBody>
      </p:sp>
      <p:sp>
        <p:nvSpPr>
          <p:cNvPr id="4" name="Shape 2"/>
          <p:cNvSpPr/>
          <p:nvPr/>
        </p:nvSpPr>
        <p:spPr>
          <a:xfrm>
            <a:off x="594360" y="1627632"/>
            <a:ext cx="10972800" cy="969264"/>
          </a:xfrm>
          <a:prstGeom prst="roundRect">
            <a:avLst>
              <a:gd name="adj" fmla="val 5660"/>
            </a:avLst>
          </a:prstGeom>
          <a:solidFill>
            <a:srgbClr val="F5F7F8"/>
          </a:solidFill>
          <a:ln/>
          <a:effectLst>
            <a:outerShdw sx="100000" sy="100000" kx="0" ky="0" algn="bl" rotWithShape="0" blurRad="101600" dist="12700" dir="5400000">
              <a:srgbClr val="0C3549">
                <a:alpha val="7000"/>
              </a:srgbClr>
            </a:outerShdw>
          </a:effectLst>
        </p:spPr>
      </p:sp>
      <p:sp>
        <p:nvSpPr>
          <p:cNvPr id="5" name="Shape 3"/>
          <p:cNvSpPr/>
          <p:nvPr/>
        </p:nvSpPr>
        <p:spPr>
          <a:xfrm>
            <a:off x="850392" y="1847088"/>
            <a:ext cx="530352" cy="530352"/>
          </a:xfrm>
          <a:prstGeom prst="ellipse">
            <a:avLst/>
          </a:prstGeom>
          <a:solidFill>
            <a:srgbClr val="0C3549"/>
          </a:solidFill>
          <a:ln/>
        </p:spPr>
      </p:sp>
      <p:sp>
        <p:nvSpPr>
          <p:cNvPr id="6" name="Text 4"/>
          <p:cNvSpPr txBox="1"/>
          <p:nvPr/>
        </p:nvSpPr>
        <p:spPr>
          <a:xfrm>
            <a:off x="850392" y="1847088"/>
            <a:ext cx="530352" cy="530352"/>
          </a:xfrm>
          <a:prstGeom prst="rect">
            <a:avLst/>
          </a:prstGeom>
          <a:noFill/>
          <a:ln/>
        </p:spPr>
        <p:txBody>
          <a:bodyPr wrap="square" lIns="0" tIns="0" rIns="0" bIns="0" rtlCol="0" anchor="ctr"/>
          <a:lstStyle/>
          <a:p>
            <a:pPr algn="ctr" indent="0" marL="0">
              <a:buNone/>
            </a:pPr>
            <a:r>
              <a:rPr lang="en-US" sz="1508" b="1" dirty="0">
                <a:solidFill>
                  <a:srgbClr val="FFFFFF"/>
                </a:solidFill>
                <a:latin typeface="Cambria" pitchFamily="34" charset="0"/>
                <a:ea typeface="Cambria" pitchFamily="34" charset="-122"/>
                <a:cs typeface="Cambria" pitchFamily="34" charset="-120"/>
              </a:rPr>
              <a:t>1</a:t>
            </a:r>
            <a:endParaRPr lang="en-US" sz="1508" dirty="0"/>
          </a:p>
        </p:txBody>
      </p:sp>
      <p:sp>
        <p:nvSpPr>
          <p:cNvPr id="7" name="Text 5"/>
          <p:cNvSpPr txBox="1"/>
          <p:nvPr/>
        </p:nvSpPr>
        <p:spPr>
          <a:xfrm>
            <a:off x="1554480" y="1773936"/>
            <a:ext cx="3200400" cy="320040"/>
          </a:xfrm>
          <a:prstGeom prst="rect">
            <a:avLst/>
          </a:prstGeom>
          <a:noFill/>
          <a:ln/>
        </p:spPr>
        <p:txBody>
          <a:bodyPr wrap="square" lIns="0" tIns="0" rIns="0" bIns="0" rtlCol="0" anchor="ctr"/>
          <a:lstStyle/>
          <a:p>
            <a:pPr indent="0" marL="0">
              <a:buNone/>
            </a:pPr>
            <a:r>
              <a:rPr lang="en-US" sz="1500" b="1" dirty="0">
                <a:solidFill>
                  <a:srgbClr val="0C3549"/>
                </a:solidFill>
                <a:latin typeface="Cambria" pitchFamily="34" charset="0"/>
                <a:ea typeface="Cambria" pitchFamily="34" charset="-122"/>
                <a:cs typeface="Cambria" pitchFamily="34" charset="-120"/>
              </a:rPr>
              <a:t>Work offline</a:t>
            </a:r>
            <a:endParaRPr lang="en-US" sz="1500" dirty="0"/>
          </a:p>
        </p:txBody>
      </p:sp>
      <p:sp>
        <p:nvSpPr>
          <p:cNvPr id="8" name="Text 6"/>
          <p:cNvSpPr txBox="1"/>
          <p:nvPr/>
        </p:nvSpPr>
        <p:spPr>
          <a:xfrm>
            <a:off x="4892040" y="1755648"/>
            <a:ext cx="6400800" cy="731520"/>
          </a:xfrm>
          <a:prstGeom prst="rect">
            <a:avLst/>
          </a:prstGeom>
          <a:noFill/>
          <a:ln/>
        </p:spPr>
        <p:txBody>
          <a:bodyPr wrap="square" lIns="0" tIns="0" rIns="0" bIns="0" rtlCol="0" anchor="ctr"/>
          <a:lstStyle/>
          <a:p>
            <a:pPr indent="0" marL="0">
              <a:lnSpc>
                <a:spcPct val="115000"/>
              </a:lnSpc>
              <a:buNone/>
            </a:pPr>
            <a:r>
              <a:rPr lang="en-US" sz="1200" dirty="0">
                <a:solidFill>
                  <a:srgbClr val="1F2933"/>
                </a:solidFill>
                <a:latin typeface="Calibri" pitchFamily="34" charset="0"/>
                <a:ea typeface="Calibri" pitchFamily="34" charset="-122"/>
                <a:cs typeface="Calibri" pitchFamily="34" charset="-120"/>
              </a:rPr>
              <a:t>Where the floor has no reliable signal a technician either walks to the office to submit, or writes on paper and re-keys later. Re-keyed data arrives late, and some of it never arrives at all.</a:t>
            </a:r>
            <a:endParaRPr lang="en-US" sz="1200" dirty="0"/>
          </a:p>
        </p:txBody>
      </p:sp>
      <p:sp>
        <p:nvSpPr>
          <p:cNvPr id="9" name="Shape 7"/>
          <p:cNvSpPr/>
          <p:nvPr/>
        </p:nvSpPr>
        <p:spPr>
          <a:xfrm>
            <a:off x="594360" y="2743200"/>
            <a:ext cx="10972800" cy="969264"/>
          </a:xfrm>
          <a:prstGeom prst="roundRect">
            <a:avLst>
              <a:gd name="adj" fmla="val 5660"/>
            </a:avLst>
          </a:prstGeom>
          <a:solidFill>
            <a:srgbClr val="F5F7F8"/>
          </a:solidFill>
          <a:ln/>
          <a:effectLst>
            <a:outerShdw sx="100000" sy="100000" kx="0" ky="0" algn="bl" rotWithShape="0" blurRad="101600" dist="12700" dir="5400000">
              <a:srgbClr val="0C3549">
                <a:alpha val="7000"/>
              </a:srgbClr>
            </a:outerShdw>
          </a:effectLst>
        </p:spPr>
      </p:sp>
      <p:sp>
        <p:nvSpPr>
          <p:cNvPr id="10" name="Shape 8"/>
          <p:cNvSpPr/>
          <p:nvPr/>
        </p:nvSpPr>
        <p:spPr>
          <a:xfrm>
            <a:off x="850392" y="2962656"/>
            <a:ext cx="530352" cy="530352"/>
          </a:xfrm>
          <a:prstGeom prst="ellipse">
            <a:avLst/>
          </a:prstGeom>
          <a:solidFill>
            <a:srgbClr val="0C3549"/>
          </a:solidFill>
          <a:ln/>
        </p:spPr>
      </p:sp>
      <p:sp>
        <p:nvSpPr>
          <p:cNvPr id="11" name="Text 9"/>
          <p:cNvSpPr txBox="1"/>
          <p:nvPr/>
        </p:nvSpPr>
        <p:spPr>
          <a:xfrm>
            <a:off x="850392" y="2962656"/>
            <a:ext cx="530352" cy="530352"/>
          </a:xfrm>
          <a:prstGeom prst="rect">
            <a:avLst/>
          </a:prstGeom>
          <a:noFill/>
          <a:ln/>
        </p:spPr>
        <p:txBody>
          <a:bodyPr wrap="square" lIns="0" tIns="0" rIns="0" bIns="0" rtlCol="0" anchor="ctr"/>
          <a:lstStyle/>
          <a:p>
            <a:pPr algn="ctr" indent="0" marL="0">
              <a:buNone/>
            </a:pPr>
            <a:r>
              <a:rPr lang="en-US" sz="1508" b="1" dirty="0">
                <a:solidFill>
                  <a:srgbClr val="FFFFFF"/>
                </a:solidFill>
                <a:latin typeface="Cambria" pitchFamily="34" charset="0"/>
                <a:ea typeface="Cambria" pitchFamily="34" charset="-122"/>
                <a:cs typeface="Cambria" pitchFamily="34" charset="-120"/>
              </a:rPr>
              <a:t>2</a:t>
            </a:r>
            <a:endParaRPr lang="en-US" sz="1508" dirty="0"/>
          </a:p>
        </p:txBody>
      </p:sp>
      <p:sp>
        <p:nvSpPr>
          <p:cNvPr id="12" name="Text 10"/>
          <p:cNvSpPr txBox="1"/>
          <p:nvPr/>
        </p:nvSpPr>
        <p:spPr>
          <a:xfrm>
            <a:off x="1554480" y="2889504"/>
            <a:ext cx="3200400" cy="320040"/>
          </a:xfrm>
          <a:prstGeom prst="rect">
            <a:avLst/>
          </a:prstGeom>
          <a:noFill/>
          <a:ln/>
        </p:spPr>
        <p:txBody>
          <a:bodyPr wrap="square" lIns="0" tIns="0" rIns="0" bIns="0" rtlCol="0" anchor="ctr"/>
          <a:lstStyle/>
          <a:p>
            <a:pPr indent="0" marL="0">
              <a:buNone/>
            </a:pPr>
            <a:r>
              <a:rPr lang="en-US" sz="1500" b="1" dirty="0">
                <a:solidFill>
                  <a:srgbClr val="0C3549"/>
                </a:solidFill>
                <a:latin typeface="Cambria" pitchFamily="34" charset="0"/>
                <a:ea typeface="Cambria" pitchFamily="34" charset="-122"/>
                <a:cs typeface="Cambria" pitchFamily="34" charset="-120"/>
              </a:rPr>
              <a:t>Enforce one check at a time</a:t>
            </a:r>
            <a:endParaRPr lang="en-US" sz="1500" dirty="0"/>
          </a:p>
        </p:txBody>
      </p:sp>
      <p:sp>
        <p:nvSpPr>
          <p:cNvPr id="13" name="Text 11"/>
          <p:cNvSpPr txBox="1"/>
          <p:nvPr/>
        </p:nvSpPr>
        <p:spPr>
          <a:xfrm>
            <a:off x="4892040" y="2871216"/>
            <a:ext cx="6400800" cy="731520"/>
          </a:xfrm>
          <a:prstGeom prst="rect">
            <a:avLst/>
          </a:prstGeom>
          <a:noFill/>
          <a:ln/>
        </p:spPr>
        <p:txBody>
          <a:bodyPr wrap="square" lIns="0" tIns="0" rIns="0" bIns="0" rtlCol="0" anchor="ctr"/>
          <a:lstStyle/>
          <a:p>
            <a:pPr indent="0" marL="0">
              <a:lnSpc>
                <a:spcPct val="115000"/>
              </a:lnSpc>
              <a:buNone/>
            </a:pPr>
            <a:r>
              <a:rPr lang="en-US" sz="1200" dirty="0">
                <a:solidFill>
                  <a:srgbClr val="1F2933"/>
                </a:solidFill>
                <a:latin typeface="Calibri" pitchFamily="34" charset="0"/>
                <a:ea typeface="Calibri" pitchFamily="34" charset="-122"/>
                <a:cs typeface="Calibri" pitchFamily="34" charset="-120"/>
              </a:rPr>
              <a:t>Six checks on one screen can be tapped straight down the OK column. The acceptance standard - the actual limit - sits on a page the technician has to go and find.</a:t>
            </a:r>
            <a:endParaRPr lang="en-US" sz="1200" dirty="0"/>
          </a:p>
        </p:txBody>
      </p:sp>
      <p:sp>
        <p:nvSpPr>
          <p:cNvPr id="14" name="Shape 12"/>
          <p:cNvSpPr/>
          <p:nvPr/>
        </p:nvSpPr>
        <p:spPr>
          <a:xfrm>
            <a:off x="594360" y="3858768"/>
            <a:ext cx="10972800" cy="969264"/>
          </a:xfrm>
          <a:prstGeom prst="roundRect">
            <a:avLst>
              <a:gd name="adj" fmla="val 5660"/>
            </a:avLst>
          </a:prstGeom>
          <a:solidFill>
            <a:srgbClr val="F5F7F8"/>
          </a:solidFill>
          <a:ln/>
          <a:effectLst>
            <a:outerShdw sx="100000" sy="100000" kx="0" ky="0" algn="bl" rotWithShape="0" blurRad="101600" dist="12700" dir="5400000">
              <a:srgbClr val="0C3549">
                <a:alpha val="7000"/>
              </a:srgbClr>
            </a:outerShdw>
          </a:effectLst>
        </p:spPr>
      </p:sp>
      <p:sp>
        <p:nvSpPr>
          <p:cNvPr id="15" name="Shape 13"/>
          <p:cNvSpPr/>
          <p:nvPr/>
        </p:nvSpPr>
        <p:spPr>
          <a:xfrm>
            <a:off x="850392" y="4078224"/>
            <a:ext cx="530352" cy="530352"/>
          </a:xfrm>
          <a:prstGeom prst="ellipse">
            <a:avLst/>
          </a:prstGeom>
          <a:solidFill>
            <a:srgbClr val="0C3549"/>
          </a:solidFill>
          <a:ln/>
        </p:spPr>
      </p:sp>
      <p:sp>
        <p:nvSpPr>
          <p:cNvPr id="16" name="Text 14"/>
          <p:cNvSpPr txBox="1"/>
          <p:nvPr/>
        </p:nvSpPr>
        <p:spPr>
          <a:xfrm>
            <a:off x="850392" y="4078224"/>
            <a:ext cx="530352" cy="530352"/>
          </a:xfrm>
          <a:prstGeom prst="rect">
            <a:avLst/>
          </a:prstGeom>
          <a:noFill/>
          <a:ln/>
        </p:spPr>
        <p:txBody>
          <a:bodyPr wrap="square" lIns="0" tIns="0" rIns="0" bIns="0" rtlCol="0" anchor="ctr"/>
          <a:lstStyle/>
          <a:p>
            <a:pPr algn="ctr" indent="0" marL="0">
              <a:buNone/>
            </a:pPr>
            <a:r>
              <a:rPr lang="en-US" sz="1508" b="1" dirty="0">
                <a:solidFill>
                  <a:srgbClr val="FFFFFF"/>
                </a:solidFill>
                <a:latin typeface="Cambria" pitchFamily="34" charset="0"/>
                <a:ea typeface="Cambria" pitchFamily="34" charset="-122"/>
                <a:cs typeface="Cambria" pitchFamily="34" charset="-120"/>
              </a:rPr>
              <a:t>3</a:t>
            </a:r>
            <a:endParaRPr lang="en-US" sz="1508" dirty="0"/>
          </a:p>
        </p:txBody>
      </p:sp>
      <p:sp>
        <p:nvSpPr>
          <p:cNvPr id="17" name="Text 15"/>
          <p:cNvSpPr txBox="1"/>
          <p:nvPr/>
        </p:nvSpPr>
        <p:spPr>
          <a:xfrm>
            <a:off x="1554480" y="4005072"/>
            <a:ext cx="3200400" cy="320040"/>
          </a:xfrm>
          <a:prstGeom prst="rect">
            <a:avLst/>
          </a:prstGeom>
          <a:noFill/>
          <a:ln/>
        </p:spPr>
        <p:txBody>
          <a:bodyPr wrap="square" lIns="0" tIns="0" rIns="0" bIns="0" rtlCol="0" anchor="ctr"/>
          <a:lstStyle/>
          <a:p>
            <a:pPr indent="0" marL="0">
              <a:buNone/>
            </a:pPr>
            <a:r>
              <a:rPr lang="en-US" sz="1500" b="1" dirty="0">
                <a:solidFill>
                  <a:srgbClr val="0C3549"/>
                </a:solidFill>
                <a:latin typeface="Cambria" pitchFamily="34" charset="0"/>
                <a:ea typeface="Cambria" pitchFamily="34" charset="-122"/>
                <a:cs typeface="Cambria" pitchFamily="34" charset="-120"/>
              </a:rPr>
              <a:t>Scan inside the workflow</a:t>
            </a:r>
            <a:endParaRPr lang="en-US" sz="1500" dirty="0"/>
          </a:p>
        </p:txBody>
      </p:sp>
      <p:sp>
        <p:nvSpPr>
          <p:cNvPr id="18" name="Text 16"/>
          <p:cNvSpPr txBox="1"/>
          <p:nvPr/>
        </p:nvSpPr>
        <p:spPr>
          <a:xfrm>
            <a:off x="4892040" y="3986784"/>
            <a:ext cx="6400800" cy="731520"/>
          </a:xfrm>
          <a:prstGeom prst="rect">
            <a:avLst/>
          </a:prstGeom>
          <a:noFill/>
          <a:ln/>
        </p:spPr>
        <p:txBody>
          <a:bodyPr wrap="square" lIns="0" tIns="0" rIns="0" bIns="0" rtlCol="0" anchor="ctr"/>
          <a:lstStyle/>
          <a:p>
            <a:pPr indent="0" marL="0">
              <a:lnSpc>
                <a:spcPct val="115000"/>
              </a:lnSpc>
              <a:buNone/>
            </a:pPr>
            <a:r>
              <a:rPr lang="en-US" sz="1200" dirty="0">
                <a:solidFill>
                  <a:srgbClr val="1F2933"/>
                </a:solidFill>
                <a:latin typeface="Calibri" pitchFamily="34" charset="0"/>
                <a:ea typeface="Calibri" pitchFamily="34" charset="-122"/>
                <a:cs typeface="Calibri" pitchFamily="34" charset="-120"/>
              </a:rPr>
              <a:t>The camera app opens a browser, which opens a form. Three context switches per machine, and any one of them can drop the pre-filled machine ID.</a:t>
            </a:r>
            <a:endParaRPr lang="en-US" sz="1200" dirty="0"/>
          </a:p>
        </p:txBody>
      </p:sp>
      <p:sp>
        <p:nvSpPr>
          <p:cNvPr id="19" name="Shape 17"/>
          <p:cNvSpPr/>
          <p:nvPr/>
        </p:nvSpPr>
        <p:spPr>
          <a:xfrm>
            <a:off x="594360" y="4974336"/>
            <a:ext cx="10972800" cy="969264"/>
          </a:xfrm>
          <a:prstGeom prst="roundRect">
            <a:avLst>
              <a:gd name="adj" fmla="val 5660"/>
            </a:avLst>
          </a:prstGeom>
          <a:solidFill>
            <a:srgbClr val="F5F7F8"/>
          </a:solidFill>
          <a:ln/>
          <a:effectLst>
            <a:outerShdw sx="100000" sy="100000" kx="0" ky="0" algn="bl" rotWithShape="0" blurRad="101600" dist="12700" dir="5400000">
              <a:srgbClr val="0C3549">
                <a:alpha val="7000"/>
              </a:srgbClr>
            </a:outerShdw>
          </a:effectLst>
        </p:spPr>
      </p:sp>
      <p:sp>
        <p:nvSpPr>
          <p:cNvPr id="20" name="Shape 18"/>
          <p:cNvSpPr/>
          <p:nvPr/>
        </p:nvSpPr>
        <p:spPr>
          <a:xfrm>
            <a:off x="850392" y="5193792"/>
            <a:ext cx="530352" cy="530352"/>
          </a:xfrm>
          <a:prstGeom prst="ellipse">
            <a:avLst/>
          </a:prstGeom>
          <a:solidFill>
            <a:srgbClr val="0C3549"/>
          </a:solidFill>
          <a:ln/>
        </p:spPr>
      </p:sp>
      <p:sp>
        <p:nvSpPr>
          <p:cNvPr id="21" name="Text 19"/>
          <p:cNvSpPr txBox="1"/>
          <p:nvPr/>
        </p:nvSpPr>
        <p:spPr>
          <a:xfrm>
            <a:off x="850392" y="5193792"/>
            <a:ext cx="530352" cy="530352"/>
          </a:xfrm>
          <a:prstGeom prst="rect">
            <a:avLst/>
          </a:prstGeom>
          <a:noFill/>
          <a:ln/>
        </p:spPr>
        <p:txBody>
          <a:bodyPr wrap="square" lIns="0" tIns="0" rIns="0" bIns="0" rtlCol="0" anchor="ctr"/>
          <a:lstStyle/>
          <a:p>
            <a:pPr algn="ctr" indent="0" marL="0">
              <a:buNone/>
            </a:pPr>
            <a:r>
              <a:rPr lang="en-US" sz="1508" b="1" dirty="0">
                <a:solidFill>
                  <a:srgbClr val="FFFFFF"/>
                </a:solidFill>
                <a:latin typeface="Cambria" pitchFamily="34" charset="0"/>
                <a:ea typeface="Cambria" pitchFamily="34" charset="-122"/>
                <a:cs typeface="Cambria" pitchFamily="34" charset="-120"/>
              </a:rPr>
              <a:t>4</a:t>
            </a:r>
            <a:endParaRPr lang="en-US" sz="1508" dirty="0"/>
          </a:p>
        </p:txBody>
      </p:sp>
      <p:sp>
        <p:nvSpPr>
          <p:cNvPr id="22" name="Text 20"/>
          <p:cNvSpPr txBox="1"/>
          <p:nvPr/>
        </p:nvSpPr>
        <p:spPr>
          <a:xfrm>
            <a:off x="1554480" y="5120640"/>
            <a:ext cx="3200400" cy="320040"/>
          </a:xfrm>
          <a:prstGeom prst="rect">
            <a:avLst/>
          </a:prstGeom>
          <a:noFill/>
          <a:ln/>
        </p:spPr>
        <p:txBody>
          <a:bodyPr wrap="square" lIns="0" tIns="0" rIns="0" bIns="0" rtlCol="0" anchor="ctr"/>
          <a:lstStyle/>
          <a:p>
            <a:pPr indent="0" marL="0">
              <a:buNone/>
            </a:pPr>
            <a:r>
              <a:rPr lang="en-US" sz="1500" b="1" dirty="0">
                <a:solidFill>
                  <a:srgbClr val="0C3549"/>
                </a:solidFill>
                <a:latin typeface="Cambria" pitchFamily="34" charset="0"/>
                <a:ea typeface="Cambria" pitchFamily="34" charset="-122"/>
                <a:cs typeface="Cambria" pitchFamily="34" charset="-120"/>
              </a:rPr>
              <a:t>Show the technician what he needs to know</a:t>
            </a:r>
            <a:endParaRPr lang="en-US" sz="1500" dirty="0"/>
          </a:p>
        </p:txBody>
      </p:sp>
      <p:sp>
        <p:nvSpPr>
          <p:cNvPr id="23" name="Text 21"/>
          <p:cNvSpPr txBox="1"/>
          <p:nvPr/>
        </p:nvSpPr>
        <p:spPr>
          <a:xfrm>
            <a:off x="4892040" y="5102352"/>
            <a:ext cx="6400800" cy="731520"/>
          </a:xfrm>
          <a:prstGeom prst="rect">
            <a:avLst/>
          </a:prstGeom>
          <a:noFill/>
          <a:ln/>
        </p:spPr>
        <p:txBody>
          <a:bodyPr wrap="square" lIns="0" tIns="0" rIns="0" bIns="0" rtlCol="0" anchor="ctr"/>
          <a:lstStyle/>
          <a:p>
            <a:pPr indent="0" marL="0">
              <a:lnSpc>
                <a:spcPct val="115000"/>
              </a:lnSpc>
              <a:buNone/>
            </a:pPr>
            <a:r>
              <a:rPr lang="en-US" sz="1200" dirty="0">
                <a:solidFill>
                  <a:srgbClr val="1F2933"/>
                </a:solidFill>
                <a:latin typeface="Calibri" pitchFamily="34" charset="0"/>
                <a:ea typeface="Calibri" pitchFamily="34" charset="-122"/>
                <a:cs typeface="Calibri" pitchFamily="34" charset="-120"/>
              </a:rPr>
              <a:t>Current stock and lead time before he fits a part. Whether his machine is the last one in the cell, and the counter is about to reset. Forms shows a blank page and asks him to type.</a:t>
            </a:r>
            <a:endParaRPr lang="en-US" sz="1200" dirty="0"/>
          </a:p>
        </p:txBody>
      </p:sp>
      <p:sp>
        <p:nvSpPr>
          <p:cNvPr id="24" name="Text 22"/>
          <p:cNvSpPr txBox="1"/>
          <p:nvPr/>
        </p:nvSpPr>
        <p:spPr>
          <a:xfrm>
            <a:off x="594360" y="6355080"/>
            <a:ext cx="10972800" cy="274320"/>
          </a:xfrm>
          <a:prstGeom prst="rect">
            <a:avLst/>
          </a:prstGeom>
          <a:noFill/>
          <a:ln/>
        </p:spPr>
        <p:txBody>
          <a:bodyPr wrap="square" lIns="0" tIns="0" rIns="0" bIns="0" rtlCol="0" anchor="ctr"/>
          <a:lstStyle/>
          <a:p>
            <a:pPr indent="0" marL="0">
              <a:buNone/>
            </a:pPr>
            <a:r>
              <a:rPr lang="en-US" sz="900" dirty="0">
                <a:solidFill>
                  <a:srgbClr val="7B8794"/>
                </a:solidFill>
                <a:latin typeface="Calibri" pitchFamily="34" charset="0"/>
                <a:ea typeface="Calibri" pitchFamily="34" charset="-122"/>
                <a:cs typeface="Calibri" pitchFamily="34" charset="-120"/>
              </a:rPr>
              <a:t>None of these are fixed by writing a better form. They need an application.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11480"/>
            <a:ext cx="10972800" cy="685800"/>
          </a:xfrm>
          <a:prstGeom prst="rect">
            <a:avLst/>
          </a:prstGeom>
          <a:noFill/>
          <a:ln/>
        </p:spPr>
        <p:txBody>
          <a:bodyPr wrap="square" lIns="0" tIns="0" rIns="0" bIns="0" rtlCol="0" anchor="ctr"/>
          <a:lstStyle/>
          <a:p>
            <a:pPr indent="0" marL="0">
              <a:buNone/>
            </a:pPr>
            <a:r>
              <a:rPr lang="en-US" sz="3200" b="1" dirty="0">
                <a:solidFill>
                  <a:srgbClr val="0C3549"/>
                </a:solidFill>
                <a:latin typeface="Cambria" pitchFamily="34" charset="0"/>
                <a:ea typeface="Cambria" pitchFamily="34" charset="-122"/>
                <a:cs typeface="Cambria" pitchFamily="34" charset="-120"/>
              </a:rPr>
              <a:t>What the gap costs, measured</a:t>
            </a:r>
            <a:endParaRPr lang="en-US" sz="3200" dirty="0"/>
          </a:p>
        </p:txBody>
      </p:sp>
      <p:sp>
        <p:nvSpPr>
          <p:cNvPr id="3" name="Text 1"/>
          <p:cNvSpPr txBox="1"/>
          <p:nvPr/>
        </p:nvSpPr>
        <p:spPr>
          <a:xfrm>
            <a:off x="594360" y="1078992"/>
            <a:ext cx="10972800" cy="365760"/>
          </a:xfrm>
          <a:prstGeom prst="rect">
            <a:avLst/>
          </a:prstGeom>
          <a:noFill/>
          <a:ln/>
        </p:spPr>
        <p:txBody>
          <a:bodyPr wrap="square" lIns="0" tIns="0" rIns="0" bIns="0" rtlCol="0" anchor="ctr"/>
          <a:lstStyle/>
          <a:p>
            <a:pPr indent="0" marL="0">
              <a:buNone/>
            </a:pPr>
            <a:r>
              <a:rPr lang="en-US" sz="1400" i="1" dirty="0">
                <a:solidFill>
                  <a:srgbClr val="7B8794"/>
                </a:solidFill>
                <a:latin typeface="Calibri" pitchFamily="34" charset="0"/>
                <a:ea typeface="Calibri" pitchFamily="34" charset="-122"/>
                <a:cs typeface="Calibri" pitchFamily="34" charset="-120"/>
              </a:rPr>
              <a:t>Twelve months of this plant's own breakdown data - not an industry benchmark.</a:t>
            </a:r>
            <a:endParaRPr lang="en-US" sz="1400" dirty="0"/>
          </a:p>
        </p:txBody>
      </p:sp>
      <p:sp>
        <p:nvSpPr>
          <p:cNvPr id="4" name="Shape 2"/>
          <p:cNvSpPr/>
          <p:nvPr/>
        </p:nvSpPr>
        <p:spPr>
          <a:xfrm>
            <a:off x="594360" y="1645920"/>
            <a:ext cx="3977640" cy="3200400"/>
          </a:xfrm>
          <a:prstGeom prst="roundRect">
            <a:avLst>
              <a:gd name="adj" fmla="val 1714"/>
            </a:avLst>
          </a:prstGeom>
          <a:solidFill>
            <a:srgbClr val="0C3549"/>
          </a:solidFill>
          <a:ln/>
          <a:effectLst>
            <a:outerShdw sx="100000" sy="100000" kx="0" ky="0" algn="bl" rotWithShape="0" blurRad="101600" dist="12700" dir="5400000">
              <a:srgbClr val="0C3549">
                <a:alpha val="7000"/>
              </a:srgbClr>
            </a:outerShdw>
          </a:effectLst>
        </p:spPr>
      </p:sp>
      <p:sp>
        <p:nvSpPr>
          <p:cNvPr id="5" name="Text 3"/>
          <p:cNvSpPr txBox="1"/>
          <p:nvPr/>
        </p:nvSpPr>
        <p:spPr>
          <a:xfrm>
            <a:off x="914400" y="1965960"/>
            <a:ext cx="3383280" cy="1051560"/>
          </a:xfrm>
          <a:prstGeom prst="rect">
            <a:avLst/>
          </a:prstGeom>
          <a:noFill/>
          <a:ln/>
        </p:spPr>
        <p:txBody>
          <a:bodyPr wrap="square" lIns="0" tIns="0" rIns="0" bIns="0" rtlCol="0" anchor="ctr"/>
          <a:lstStyle/>
          <a:p>
            <a:pPr indent="0" marL="0">
              <a:buNone/>
            </a:pPr>
            <a:r>
              <a:rPr lang="en-US" sz="6800" b="1" dirty="0">
                <a:solidFill>
                  <a:srgbClr val="F0A202"/>
                </a:solidFill>
                <a:latin typeface="Cambria" pitchFamily="34" charset="0"/>
                <a:ea typeface="Cambria" pitchFamily="34" charset="-122"/>
                <a:cs typeface="Cambria" pitchFamily="34" charset="-120"/>
              </a:rPr>
              <a:t>28.1</a:t>
            </a:r>
            <a:endParaRPr lang="en-US" sz="6800" dirty="0"/>
          </a:p>
        </p:txBody>
      </p:sp>
      <p:sp>
        <p:nvSpPr>
          <p:cNvPr id="6" name="Text 4"/>
          <p:cNvSpPr txBox="1"/>
          <p:nvPr/>
        </p:nvSpPr>
        <p:spPr>
          <a:xfrm>
            <a:off x="914400" y="2999232"/>
            <a:ext cx="338328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hours of production lost</a:t>
            </a:r>
            <a:endParaRPr lang="en-US" sz="1600" dirty="0"/>
          </a:p>
        </p:txBody>
      </p:sp>
      <p:sp>
        <p:nvSpPr>
          <p:cNvPr id="7" name="Text 5"/>
          <p:cNvSpPr txBox="1"/>
          <p:nvPr/>
        </p:nvSpPr>
        <p:spPr>
          <a:xfrm>
            <a:off x="914400" y="3401568"/>
            <a:ext cx="3383280" cy="1234440"/>
          </a:xfrm>
          <a:prstGeom prst="rect">
            <a:avLst/>
          </a:prstGeom>
          <a:noFill/>
          <a:ln/>
        </p:spPr>
        <p:txBody>
          <a:bodyPr wrap="square" lIns="0" tIns="0" rIns="0" bIns="0" rtlCol="0" anchor="ctr"/>
          <a:lstStyle/>
          <a:p>
            <a:pPr indent="0" marL="0">
              <a:lnSpc>
                <a:spcPct val="120000"/>
              </a:lnSpc>
              <a:buNone/>
            </a:pPr>
            <a:r>
              <a:rPr lang="en-US" sz="1250" dirty="0">
                <a:solidFill>
                  <a:srgbClr val="B9CBD4"/>
                </a:solidFill>
                <a:latin typeface="Calibri" pitchFamily="34" charset="0"/>
                <a:ea typeface="Calibri" pitchFamily="34" charset="-122"/>
                <a:cs typeface="Calibri" pitchFamily="34" charset="-120"/>
              </a:rPr>
              <a:t>to breakdowns that happened within seven days of a completed PM on that same cell.</a:t>
            </a:r>
            <a:endParaRPr lang="en-US" sz="1250" dirty="0"/>
          </a:p>
          <a:p>
            <a:pPr indent="0" marL="0">
              <a:lnSpc>
                <a:spcPct val="120000"/>
              </a:lnSpc>
              <a:buNone/>
            </a:pPr>
            <a:endParaRPr lang="en-US" sz="1250" dirty="0"/>
          </a:p>
          <a:p>
            <a:pPr indent="0" marL="0">
              <a:lnSpc>
                <a:spcPct val="120000"/>
              </a:lnSpc>
              <a:buNone/>
            </a:pPr>
            <a:r>
              <a:rPr lang="en-US" sz="1250" dirty="0">
                <a:solidFill>
                  <a:srgbClr val="B9CBD4"/>
                </a:solidFill>
                <a:latin typeface="Calibri" pitchFamily="34" charset="0"/>
                <a:ea typeface="Calibri" pitchFamily="34" charset="-122"/>
                <a:cs typeface="Calibri" pitchFamily="34" charset="-120"/>
              </a:rPr>
              <a:t>7 of 88 breakdowns. 9.4% of all downtime, on machines we had just maintained.</a:t>
            </a:r>
            <a:endParaRPr lang="en-US" sz="1250" dirty="0"/>
          </a:p>
        </p:txBody>
      </p:sp>
      <p:graphicFrame>
        <p:nvGraphicFramePr>
          <p:cNvPr id="8" name="Chart 0" descr=""/>
          <p:cNvGraphicFramePr/>
          <p:nvPr/>
        </p:nvGraphicFramePr>
        <p:xfrm>
          <a:off x="4892040" y="1600200"/>
          <a:ext cx="3383280" cy="329184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549640" y="1645920"/>
            <a:ext cx="3017520" cy="3200400"/>
          </a:xfrm>
          <a:prstGeom prst="roundRect">
            <a:avLst>
              <a:gd name="adj" fmla="val 1818"/>
            </a:avLst>
          </a:prstGeom>
          <a:solidFill>
            <a:srgbClr val="F5F7F8"/>
          </a:solidFill>
          <a:ln/>
          <a:effectLst>
            <a:outerShdw sx="100000" sy="100000" kx="0" ky="0" algn="bl" rotWithShape="0" blurRad="101600" dist="12700" dir="5400000">
              <a:srgbClr val="0C3549">
                <a:alpha val="7000"/>
              </a:srgbClr>
            </a:outerShdw>
          </a:effectLst>
        </p:spPr>
      </p:sp>
      <p:sp>
        <p:nvSpPr>
          <p:cNvPr id="10" name="Text 7"/>
          <p:cNvSpPr txBox="1"/>
          <p:nvPr/>
        </p:nvSpPr>
        <p:spPr>
          <a:xfrm>
            <a:off x="8778240" y="1828800"/>
            <a:ext cx="2697480" cy="320040"/>
          </a:xfrm>
          <a:prstGeom prst="rect">
            <a:avLst/>
          </a:prstGeom>
          <a:noFill/>
          <a:ln/>
        </p:spPr>
        <p:txBody>
          <a:bodyPr wrap="square" lIns="0" tIns="0" rIns="0" bIns="0" rtlCol="0" anchor="ctr"/>
          <a:lstStyle/>
          <a:p>
            <a:pPr indent="0" marL="0">
              <a:buNone/>
            </a:pPr>
            <a:r>
              <a:rPr lang="en-US" sz="1400" b="1" dirty="0">
                <a:solidFill>
                  <a:srgbClr val="0C3549"/>
                </a:solidFill>
                <a:latin typeface="Cambria" pitchFamily="34" charset="0"/>
                <a:ea typeface="Cambria" pitchFamily="34" charset="-122"/>
                <a:cs typeface="Cambria" pitchFamily="34" charset="-120"/>
              </a:rPr>
              <a:t>Why this number is the right one</a:t>
            </a:r>
            <a:endParaRPr lang="en-US" sz="1400" dirty="0"/>
          </a:p>
        </p:txBody>
      </p:sp>
      <p:sp>
        <p:nvSpPr>
          <p:cNvPr id="11" name="Text 8"/>
          <p:cNvSpPr txBox="1"/>
          <p:nvPr/>
        </p:nvSpPr>
        <p:spPr>
          <a:xfrm>
            <a:off x="8778240" y="2240280"/>
            <a:ext cx="2697480" cy="2377440"/>
          </a:xfrm>
          <a:prstGeom prst="rect">
            <a:avLst/>
          </a:prstGeom>
          <a:noFill/>
          <a:ln/>
        </p:spPr>
        <p:txBody>
          <a:bodyPr wrap="square" lIns="0" tIns="0" rIns="0" bIns="0" rtlCol="0" anchor="ctr"/>
          <a:lstStyle/>
          <a:p>
            <a:pPr indent="0" marL="0">
              <a:lnSpc>
                <a:spcPct val="120000"/>
              </a:lnSpc>
              <a:buNone/>
            </a:pPr>
            <a:r>
              <a:rPr lang="en-US" sz="1150" dirty="0">
                <a:solidFill>
                  <a:srgbClr val="1F2933"/>
                </a:solidFill>
                <a:latin typeface="Calibri" pitchFamily="34" charset="0"/>
                <a:ea typeface="Calibri" pitchFamily="34" charset="-122"/>
                <a:cs typeface="Calibri" pitchFamily="34" charset="-120"/>
              </a:rPr>
              <a:t>A breakdown days after a PM means the PM did not find what was there.</a:t>
            </a:r>
            <a:endParaRPr lang="en-US" sz="1150" dirty="0"/>
          </a:p>
          <a:p>
            <a:pPr indent="0" marL="0">
              <a:lnSpc>
                <a:spcPct val="120000"/>
              </a:lnSpc>
              <a:buNone/>
            </a:pPr>
            <a:endParaRPr lang="en-US" sz="1150" dirty="0"/>
          </a:p>
          <a:p>
            <a:pPr indent="0" marL="0">
              <a:lnSpc>
                <a:spcPct val="120000"/>
              </a:lnSpc>
              <a:buNone/>
            </a:pPr>
            <a:r>
              <a:rPr lang="en-US" sz="1150" dirty="0">
                <a:solidFill>
                  <a:srgbClr val="1F2933"/>
                </a:solidFill>
                <a:latin typeface="Calibri" pitchFamily="34" charset="0"/>
                <a:ea typeface="Calibri" pitchFamily="34" charset="-122"/>
                <a:cs typeface="Calibri" pitchFamily="34" charset="-120"/>
              </a:rPr>
              <a:t>That is either a check performed too fast to see anything, or a reading nobody wrote down.</a:t>
            </a:r>
            <a:endParaRPr lang="en-US" sz="1150" dirty="0"/>
          </a:p>
          <a:p>
            <a:pPr indent="0" marL="0">
              <a:lnSpc>
                <a:spcPct val="120000"/>
              </a:lnSpc>
              <a:buNone/>
            </a:pPr>
            <a:endParaRPr lang="en-US" sz="1150" dirty="0"/>
          </a:p>
          <a:p>
            <a:pPr indent="0" marL="0">
              <a:lnSpc>
                <a:spcPct val="120000"/>
              </a:lnSpc>
              <a:buNone/>
            </a:pPr>
            <a:r>
              <a:rPr lang="en-US" sz="1150" dirty="0">
                <a:solidFill>
                  <a:srgbClr val="1F2933"/>
                </a:solidFill>
                <a:latin typeface="Calibri" pitchFamily="34" charset="0"/>
                <a:ea typeface="Calibri" pitchFamily="34" charset="-122"/>
                <a:cs typeface="Calibri" pitchFamily="34" charset="-120"/>
              </a:rPr>
              <a:t>Both are execution problems at the point of capture - exactly where the four gaps are.</a:t>
            </a:r>
            <a:endParaRPr lang="en-US" sz="1150" dirty="0"/>
          </a:p>
        </p:txBody>
      </p:sp>
      <p:sp>
        <p:nvSpPr>
          <p:cNvPr id="12" name="Text 9"/>
          <p:cNvSpPr txBox="1"/>
          <p:nvPr/>
        </p:nvSpPr>
        <p:spPr>
          <a:xfrm>
            <a:off x="594360" y="5074920"/>
            <a:ext cx="10972800" cy="548640"/>
          </a:xfrm>
          <a:prstGeom prst="rect">
            <a:avLst/>
          </a:prstGeom>
          <a:noFill/>
          <a:ln/>
        </p:spPr>
        <p:txBody>
          <a:bodyPr wrap="square" lIns="0" tIns="0" rIns="0" bIns="0" rtlCol="0" anchor="ctr"/>
          <a:lstStyle/>
          <a:p>
            <a:pPr indent="0" marL="0">
              <a:buNone/>
            </a:pPr>
            <a:r>
              <a:rPr lang="en-US" sz="1350" i="1" dirty="0">
                <a:solidFill>
                  <a:srgbClr val="0C3549"/>
                </a:solidFill>
                <a:latin typeface="Calibri" pitchFamily="34" charset="0"/>
                <a:ea typeface="Calibri" pitchFamily="34" charset="-122"/>
                <a:cs typeface="Calibri" pitchFamily="34" charset="-120"/>
              </a:rPr>
              <a:t>Compliance is 89.6% and on-time is 65.1%. Neither number would tell you any of this. A PM programme can be fully compliant and still not be working.</a:t>
            </a:r>
            <a:endParaRPr lang="en-US" sz="1350" dirty="0"/>
          </a:p>
        </p:txBody>
      </p:sp>
      <p:sp>
        <p:nvSpPr>
          <p:cNvPr id="13" name="Text 10"/>
          <p:cNvSpPr txBox="1"/>
          <p:nvPr/>
        </p:nvSpPr>
        <p:spPr>
          <a:xfrm>
            <a:off x="594360" y="6355080"/>
            <a:ext cx="10972800" cy="274320"/>
          </a:xfrm>
          <a:prstGeom prst="rect">
            <a:avLst/>
          </a:prstGeom>
          <a:noFill/>
          <a:ln/>
        </p:spPr>
        <p:txBody>
          <a:bodyPr wrap="square" lIns="0" tIns="0" rIns="0" bIns="0" rtlCol="0" anchor="ctr"/>
          <a:lstStyle/>
          <a:p>
            <a:pPr indent="0" marL="0">
              <a:buNone/>
            </a:pPr>
            <a:r>
              <a:rPr lang="en-US" sz="900" dirty="0">
                <a:solidFill>
                  <a:srgbClr val="7B8794"/>
                </a:solidFill>
                <a:latin typeface="Calibri" pitchFamily="34" charset="0"/>
                <a:ea typeface="Calibri" pitchFamily="34" charset="-122"/>
                <a:cs typeface="Calibri" pitchFamily="34" charset="-120"/>
              </a:rPr>
              <a:t>Source: Breakdown_Log and PM_WorkOrder, 12 months. Measure definition and verification in docs/ASSUMPTIONS.md.</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11480"/>
            <a:ext cx="10972800" cy="685800"/>
          </a:xfrm>
          <a:prstGeom prst="rect">
            <a:avLst/>
          </a:prstGeom>
          <a:noFill/>
          <a:ln/>
        </p:spPr>
        <p:txBody>
          <a:bodyPr wrap="square" lIns="0" tIns="0" rIns="0" bIns="0" rtlCol="0" anchor="ctr"/>
          <a:lstStyle/>
          <a:p>
            <a:pPr indent="0" marL="0">
              <a:buNone/>
            </a:pPr>
            <a:r>
              <a:rPr lang="en-US" sz="3200" b="1" dirty="0">
                <a:solidFill>
                  <a:srgbClr val="0C3549"/>
                </a:solidFill>
                <a:latin typeface="Cambria" pitchFamily="34" charset="0"/>
                <a:ea typeface="Cambria" pitchFamily="34" charset="-122"/>
                <a:cs typeface="Cambria" pitchFamily="34" charset="-120"/>
              </a:rPr>
              <a:t>It is concentrated, not spread</a:t>
            </a:r>
            <a:endParaRPr lang="en-US" sz="3200" dirty="0"/>
          </a:p>
        </p:txBody>
      </p:sp>
      <p:sp>
        <p:nvSpPr>
          <p:cNvPr id="3" name="Text 1"/>
          <p:cNvSpPr txBox="1"/>
          <p:nvPr/>
        </p:nvSpPr>
        <p:spPr>
          <a:xfrm>
            <a:off x="594360" y="1078992"/>
            <a:ext cx="10972800" cy="365760"/>
          </a:xfrm>
          <a:prstGeom prst="rect">
            <a:avLst/>
          </a:prstGeom>
          <a:noFill/>
          <a:ln/>
        </p:spPr>
        <p:txBody>
          <a:bodyPr wrap="square" lIns="0" tIns="0" rIns="0" bIns="0" rtlCol="0" anchor="ctr"/>
          <a:lstStyle/>
          <a:p>
            <a:pPr indent="0" marL="0">
              <a:buNone/>
            </a:pPr>
            <a:r>
              <a:rPr lang="en-US" sz="1400" i="1" dirty="0">
                <a:solidFill>
                  <a:srgbClr val="7B8794"/>
                </a:solidFill>
                <a:latin typeface="Calibri" pitchFamily="34" charset="0"/>
                <a:ea typeface="Calibri" pitchFamily="34" charset="-122"/>
                <a:cs typeface="Calibri" pitchFamily="34" charset="-120"/>
              </a:rPr>
              <a:t>Four of eight cells carry the whole of it. Those four are the pilot.</a:t>
            </a:r>
            <a:endParaRPr lang="en-US" sz="1400" dirty="0"/>
          </a:p>
        </p:txBody>
      </p:sp>
      <p:graphicFrame>
        <p:nvGraphicFramePr>
          <p:cNvPr id="4" name="Chart 0" descr=""/>
          <p:cNvGraphicFramePr/>
          <p:nvPr/>
        </p:nvGraphicFramePr>
        <p:xfrm>
          <a:off x="594360" y="1691640"/>
          <a:ext cx="6903720" cy="36576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772400" y="1828800"/>
            <a:ext cx="3657600" cy="868680"/>
          </a:xfrm>
          <a:prstGeom prst="rect">
            <a:avLst/>
          </a:prstGeom>
          <a:noFill/>
          <a:ln/>
        </p:spPr>
        <p:txBody>
          <a:bodyPr wrap="square" lIns="0" tIns="0" rIns="0" bIns="0" rtlCol="0" anchor="ctr"/>
          <a:lstStyle/>
          <a:p>
            <a:pPr indent="0" marL="0">
              <a:buNone/>
            </a:pPr>
            <a:r>
              <a:rPr lang="en-US" sz="4400" b="1" dirty="0">
                <a:solidFill>
                  <a:srgbClr val="F0A202"/>
                </a:solidFill>
                <a:latin typeface="Cambria" pitchFamily="34" charset="0"/>
                <a:ea typeface="Cambria" pitchFamily="34" charset="-122"/>
                <a:cs typeface="Cambria" pitchFamily="34" charset="-120"/>
              </a:rPr>
              <a:t>4 cells</a:t>
            </a:r>
            <a:endParaRPr lang="en-US" sz="4400" dirty="0"/>
          </a:p>
        </p:txBody>
      </p:sp>
      <p:sp>
        <p:nvSpPr>
          <p:cNvPr id="6" name="Text 3"/>
          <p:cNvSpPr txBox="1"/>
          <p:nvPr/>
        </p:nvSpPr>
        <p:spPr>
          <a:xfrm>
            <a:off x="7772400" y="2670048"/>
            <a:ext cx="3657600" cy="292608"/>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carry 26.5 of the 28.1 hours</a:t>
            </a:r>
            <a:endParaRPr lang="en-US" sz="1300" dirty="0"/>
          </a:p>
        </p:txBody>
      </p:sp>
      <p:sp>
        <p:nvSpPr>
          <p:cNvPr id="7" name="Text 4"/>
          <p:cNvSpPr txBox="1"/>
          <p:nvPr/>
        </p:nvSpPr>
        <p:spPr>
          <a:xfrm>
            <a:off x="7772400" y="2999232"/>
            <a:ext cx="3657600" cy="868680"/>
          </a:xfrm>
          <a:prstGeom prst="rect">
            <a:avLst/>
          </a:prstGeom>
          <a:noFill/>
          <a:ln/>
        </p:spPr>
        <p:txBody>
          <a:bodyPr wrap="square" lIns="0" tIns="0" rIns="0" bIns="0" rtlCol="0" anchor="ctr"/>
          <a:lstStyle/>
          <a:p>
            <a:pPr indent="0" marL="0">
              <a:buNone/>
            </a:pPr>
            <a:r>
              <a:rPr lang="en-US" sz="4400" b="1" dirty="0">
                <a:solidFill>
                  <a:srgbClr val="0C3549"/>
                </a:solidFill>
                <a:latin typeface="Cambria" pitchFamily="34" charset="0"/>
                <a:ea typeface="Cambria" pitchFamily="34" charset="-122"/>
                <a:cs typeface="Cambria" pitchFamily="34" charset="-120"/>
              </a:rPr>
              <a:t>15 machines</a:t>
            </a:r>
            <a:endParaRPr lang="en-US" sz="4400" dirty="0"/>
          </a:p>
        </p:txBody>
      </p:sp>
      <p:sp>
        <p:nvSpPr>
          <p:cNvPr id="8" name="Text 5"/>
          <p:cNvSpPr txBox="1"/>
          <p:nvPr/>
        </p:nvSpPr>
        <p:spPr>
          <a:xfrm>
            <a:off x="7772400" y="3840480"/>
            <a:ext cx="3657600" cy="292608"/>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in those four cells</a:t>
            </a:r>
            <a:endParaRPr lang="en-US" sz="1300" dirty="0"/>
          </a:p>
        </p:txBody>
      </p:sp>
      <p:sp>
        <p:nvSpPr>
          <p:cNvPr id="9" name="Text 6"/>
          <p:cNvSpPr txBox="1"/>
          <p:nvPr/>
        </p:nvSpPr>
        <p:spPr>
          <a:xfrm>
            <a:off x="7772400" y="4169664"/>
            <a:ext cx="3657600" cy="868680"/>
          </a:xfrm>
          <a:prstGeom prst="rect">
            <a:avLst/>
          </a:prstGeom>
          <a:noFill/>
          <a:ln/>
        </p:spPr>
        <p:txBody>
          <a:bodyPr wrap="square" lIns="0" tIns="0" rIns="0" bIns="0" rtlCol="0" anchor="ctr"/>
          <a:lstStyle/>
          <a:p>
            <a:pPr indent="0" marL="0">
              <a:buNone/>
            </a:pPr>
            <a:r>
              <a:rPr lang="en-US" sz="4400" b="1" dirty="0">
                <a:solidFill>
                  <a:srgbClr val="0C3549"/>
                </a:solidFill>
                <a:latin typeface="Cambria" pitchFamily="34" charset="0"/>
                <a:ea typeface="Cambria" pitchFamily="34" charset="-122"/>
                <a:cs typeface="Cambria" pitchFamily="34" charset="-120"/>
              </a:rPr>
              <a:t>6 technicians</a:t>
            </a:r>
            <a:endParaRPr lang="en-US" sz="4400" dirty="0"/>
          </a:p>
        </p:txBody>
      </p:sp>
      <p:sp>
        <p:nvSpPr>
          <p:cNvPr id="10" name="Text 7"/>
          <p:cNvSpPr txBox="1"/>
          <p:nvPr/>
        </p:nvSpPr>
        <p:spPr>
          <a:xfrm>
            <a:off x="7772400" y="5010912"/>
            <a:ext cx="3657600" cy="292608"/>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would need a licence</a:t>
            </a:r>
            <a:endParaRPr lang="en-US" sz="1300" dirty="0"/>
          </a:p>
        </p:txBody>
      </p:sp>
      <p:sp>
        <p:nvSpPr>
          <p:cNvPr id="11" name="Text 8"/>
          <p:cNvSpPr txBox="1"/>
          <p:nvPr/>
        </p:nvSpPr>
        <p:spPr>
          <a:xfrm>
            <a:off x="7772400" y="5349240"/>
            <a:ext cx="3657600" cy="457200"/>
          </a:xfrm>
          <a:prstGeom prst="rect">
            <a:avLst/>
          </a:prstGeom>
          <a:noFill/>
          <a:ln/>
        </p:spPr>
        <p:txBody>
          <a:bodyPr wrap="square" lIns="0" tIns="0" rIns="0" bIns="0" rtlCol="0" anchor="ctr"/>
          <a:lstStyle/>
          <a:p>
            <a:pPr indent="0" marL="0">
              <a:buNone/>
            </a:pPr>
            <a:r>
              <a:rPr lang="en-US" sz="1200" i="1" dirty="0">
                <a:solidFill>
                  <a:srgbClr val="0C3549"/>
                </a:solidFill>
                <a:latin typeface="Calibri" pitchFamily="34" charset="0"/>
                <a:ea typeface="Calibri" pitchFamily="34" charset="-122"/>
                <a:cs typeface="Calibri" pitchFamily="34" charset="-120"/>
              </a:rPr>
              <a:t>A pilot on those four cells tests the case before the plant commits to all eight.</a:t>
            </a:r>
            <a:endParaRPr lang="en-US" sz="1200" dirty="0"/>
          </a:p>
        </p:txBody>
      </p:sp>
      <p:sp>
        <p:nvSpPr>
          <p:cNvPr id="12" name="Text 9"/>
          <p:cNvSpPr txBox="1"/>
          <p:nvPr/>
        </p:nvSpPr>
        <p:spPr>
          <a:xfrm>
            <a:off x="594360" y="6355080"/>
            <a:ext cx="10972800" cy="274320"/>
          </a:xfrm>
          <a:prstGeom prst="rect">
            <a:avLst/>
          </a:prstGeom>
          <a:noFill/>
          <a:ln/>
        </p:spPr>
        <p:txBody>
          <a:bodyPr wrap="square" lIns="0" tIns="0" rIns="0" bIns="0" rtlCol="0" anchor="ctr"/>
          <a:lstStyle/>
          <a:p>
            <a:pPr indent="0" marL="0">
              <a:buNone/>
            </a:pPr>
            <a:r>
              <a:rPr lang="en-US" sz="900" dirty="0">
                <a:solidFill>
                  <a:srgbClr val="7B8794"/>
                </a:solidFill>
                <a:latin typeface="Calibri" pitchFamily="34" charset="0"/>
                <a:ea typeface="Calibri" pitchFamily="34" charset="-122"/>
                <a:cs typeface="Calibri" pitchFamily="34" charset="-120"/>
              </a:rPr>
              <a:t>Three cells lost nothing to post-PM breakdowns in twelve months. Whatever they do differently is worth copying either way.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11480"/>
            <a:ext cx="10972800" cy="685800"/>
          </a:xfrm>
          <a:prstGeom prst="rect">
            <a:avLst/>
          </a:prstGeom>
          <a:noFill/>
          <a:ln/>
        </p:spPr>
        <p:txBody>
          <a:bodyPr wrap="square" lIns="0" tIns="0" rIns="0" bIns="0" rtlCol="0" anchor="ctr"/>
          <a:lstStyle/>
          <a:p>
            <a:pPr indent="0" marL="0">
              <a:buNone/>
            </a:pPr>
            <a:r>
              <a:rPr lang="en-US" sz="3200" b="1" dirty="0">
                <a:solidFill>
                  <a:srgbClr val="0C3549"/>
                </a:solidFill>
                <a:latin typeface="Cambria" pitchFamily="34" charset="0"/>
                <a:ea typeface="Cambria" pitchFamily="34" charset="-122"/>
                <a:cs typeface="Cambria" pitchFamily="34" charset="-120"/>
              </a:rPr>
              <a:t>What changes at the machine</a:t>
            </a:r>
            <a:endParaRPr lang="en-US" sz="3200" dirty="0"/>
          </a:p>
        </p:txBody>
      </p:sp>
      <p:sp>
        <p:nvSpPr>
          <p:cNvPr id="3" name="Text 1"/>
          <p:cNvSpPr txBox="1"/>
          <p:nvPr/>
        </p:nvSpPr>
        <p:spPr>
          <a:xfrm>
            <a:off x="594360" y="1078992"/>
            <a:ext cx="10972800" cy="365760"/>
          </a:xfrm>
          <a:prstGeom prst="rect">
            <a:avLst/>
          </a:prstGeom>
          <a:noFill/>
          <a:ln/>
        </p:spPr>
        <p:txBody>
          <a:bodyPr wrap="square" lIns="0" tIns="0" rIns="0" bIns="0" rtlCol="0" anchor="ctr"/>
          <a:lstStyle/>
          <a:p>
            <a:pPr indent="0" marL="0">
              <a:buNone/>
            </a:pPr>
            <a:r>
              <a:rPr lang="en-US" sz="1400" i="1" dirty="0">
                <a:solidFill>
                  <a:srgbClr val="7B8794"/>
                </a:solidFill>
                <a:latin typeface="Calibri" pitchFamily="34" charset="0"/>
                <a:ea typeface="Calibri" pitchFamily="34" charset="-122"/>
                <a:cs typeface="Calibri" pitchFamily="34" charset="-120"/>
              </a:rPr>
              <a:t>Same data, same lists, same flows. Only the capture changes.</a:t>
            </a:r>
            <a:endParaRPr lang="en-US" sz="1400" dirty="0"/>
          </a:p>
        </p:txBody>
      </p:sp>
      <p:sp>
        <p:nvSpPr>
          <p:cNvPr id="4" name="Shape 2"/>
          <p:cNvSpPr/>
          <p:nvPr/>
        </p:nvSpPr>
        <p:spPr>
          <a:xfrm>
            <a:off x="594360" y="1645920"/>
            <a:ext cx="5303520" cy="3657600"/>
          </a:xfrm>
          <a:prstGeom prst="roundRect">
            <a:avLst>
              <a:gd name="adj" fmla="val 1500"/>
            </a:avLst>
          </a:prstGeom>
          <a:solidFill>
            <a:srgbClr val="F5F7F8"/>
          </a:solidFill>
          <a:ln/>
          <a:effectLst>
            <a:outerShdw sx="100000" sy="100000" kx="0" ky="0" algn="bl" rotWithShape="0" blurRad="101600" dist="12700" dir="5400000">
              <a:srgbClr val="0C3549">
                <a:alpha val="7000"/>
              </a:srgbClr>
            </a:outerShdw>
          </a:effectLst>
        </p:spPr>
      </p:sp>
      <p:sp>
        <p:nvSpPr>
          <p:cNvPr id="5" name="Shape 3"/>
          <p:cNvSpPr/>
          <p:nvPr/>
        </p:nvSpPr>
        <p:spPr>
          <a:xfrm>
            <a:off x="6263640" y="1645920"/>
            <a:ext cx="5303520" cy="3657600"/>
          </a:xfrm>
          <a:prstGeom prst="roundRect">
            <a:avLst>
              <a:gd name="adj" fmla="val 1500"/>
            </a:avLst>
          </a:prstGeom>
          <a:solidFill>
            <a:srgbClr val="EAF4F8"/>
          </a:solidFill>
          <a:ln/>
          <a:effectLst>
            <a:outerShdw sx="100000" sy="100000" kx="0" ky="0" algn="bl" rotWithShape="0" blurRad="101600" dist="12700" dir="5400000">
              <a:srgbClr val="0C3549">
                <a:alpha val="7000"/>
              </a:srgbClr>
            </a:outerShdw>
          </a:effectLst>
        </p:spPr>
      </p:sp>
      <p:sp>
        <p:nvSpPr>
          <p:cNvPr id="6" name="Text 4"/>
          <p:cNvSpPr txBox="1"/>
          <p:nvPr/>
        </p:nvSpPr>
        <p:spPr>
          <a:xfrm>
            <a:off x="868680" y="1828800"/>
            <a:ext cx="4754880" cy="365760"/>
          </a:xfrm>
          <a:prstGeom prst="rect">
            <a:avLst/>
          </a:prstGeom>
          <a:noFill/>
          <a:ln/>
        </p:spPr>
        <p:txBody>
          <a:bodyPr wrap="square" lIns="0" tIns="0" rIns="0" bIns="0" rtlCol="0" anchor="ctr"/>
          <a:lstStyle/>
          <a:p>
            <a:pPr indent="0" marL="0">
              <a:buNone/>
            </a:pPr>
            <a:r>
              <a:rPr lang="en-US" sz="1500" b="1" dirty="0">
                <a:solidFill>
                  <a:srgbClr val="7B8794"/>
                </a:solidFill>
                <a:latin typeface="Cambria" pitchFamily="34" charset="0"/>
                <a:ea typeface="Cambria" pitchFamily="34" charset="-122"/>
                <a:cs typeface="Cambria" pitchFamily="34" charset="-120"/>
              </a:rPr>
              <a:t>Today  ·  Microsoft Forms</a:t>
            </a:r>
            <a:endParaRPr lang="en-US" sz="1500" dirty="0"/>
          </a:p>
        </p:txBody>
      </p:sp>
      <p:sp>
        <p:nvSpPr>
          <p:cNvPr id="7" name="Text 5"/>
          <p:cNvSpPr txBox="1"/>
          <p:nvPr/>
        </p:nvSpPr>
        <p:spPr>
          <a:xfrm>
            <a:off x="6537960" y="1828800"/>
            <a:ext cx="4754880" cy="365760"/>
          </a:xfrm>
          <a:prstGeom prst="rect">
            <a:avLst/>
          </a:prstGeom>
          <a:noFill/>
          <a:ln/>
        </p:spPr>
        <p:txBody>
          <a:bodyPr wrap="square" lIns="0" tIns="0" rIns="0" bIns="0" rtlCol="0" anchor="ctr"/>
          <a:lstStyle/>
          <a:p>
            <a:pPr indent="0" marL="0">
              <a:buNone/>
            </a:pPr>
            <a:r>
              <a:rPr lang="en-US" sz="1500" b="1" dirty="0">
                <a:solidFill>
                  <a:srgbClr val="2E86AB"/>
                </a:solidFill>
                <a:latin typeface="Cambria" pitchFamily="34" charset="0"/>
                <a:ea typeface="Cambria" pitchFamily="34" charset="-122"/>
                <a:cs typeface="Cambria" pitchFamily="34" charset="-120"/>
              </a:rPr>
              <a:t>Phase 2  ·  Canvas app</a:t>
            </a:r>
            <a:endParaRPr lang="en-US" sz="1500" dirty="0"/>
          </a:p>
        </p:txBody>
      </p:sp>
      <p:sp>
        <p:nvSpPr>
          <p:cNvPr id="8" name="Text 6"/>
          <p:cNvSpPr txBox="1"/>
          <p:nvPr/>
        </p:nvSpPr>
        <p:spPr>
          <a:xfrm>
            <a:off x="914400" y="2286000"/>
            <a:ext cx="4663440" cy="283464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Camera app opens a browser, which opens a form</a:t>
            </a:r>
            <a:endParaRPr lang="en-US" sz="1250" dirty="0"/>
          </a:p>
          <a:p>
            <a:pPr marL="342900" indent="-342900">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Six checks on one screen, tappable straight down the OK column</a:t>
            </a:r>
            <a:endParaRPr lang="en-US" sz="1250" dirty="0"/>
          </a:p>
          <a:p>
            <a:pPr marL="342900" indent="-342900">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Acceptance standard on a page nobody opens</a:t>
            </a:r>
            <a:endParaRPr lang="en-US" sz="1250" dirty="0"/>
          </a:p>
          <a:p>
            <a:pPr marL="342900" indent="-342900">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No signal means paper, then re-keying</a:t>
            </a:r>
            <a:endParaRPr lang="en-US" sz="1250" dirty="0"/>
          </a:p>
          <a:p>
            <a:pPr marL="342900" indent="-342900">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Requests a part without seeing the stock</a:t>
            </a:r>
            <a:endParaRPr lang="en-US" sz="1250" dirty="0"/>
          </a:p>
          <a:p>
            <a:pPr marL="342900" indent="-342900">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No idea his machine was the last in the cell</a:t>
            </a:r>
            <a:endParaRPr lang="en-US" sz="1250" dirty="0"/>
          </a:p>
        </p:txBody>
      </p:sp>
      <p:sp>
        <p:nvSpPr>
          <p:cNvPr id="9" name="Text 7"/>
          <p:cNvSpPr txBox="1"/>
          <p:nvPr/>
        </p:nvSpPr>
        <p:spPr>
          <a:xfrm>
            <a:off x="6583680" y="2286000"/>
            <a:ext cx="4663440" cy="283464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Scanner inside the app, straight to the machine</a:t>
            </a:r>
            <a:endParaRPr lang="en-US" sz="1250" dirty="0"/>
          </a:p>
          <a:p>
            <a:pPr marL="342900" indent="-342900">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One check at a time, cannot skip an unanswered one</a:t>
            </a:r>
            <a:endParaRPr lang="en-US" sz="1250" dirty="0"/>
          </a:p>
          <a:p>
            <a:pPr marL="342900" indent="-342900">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Acceptance standard on screen with the check</a:t>
            </a:r>
            <a:endParaRPr lang="en-US" sz="1250" dirty="0"/>
          </a:p>
          <a:p>
            <a:pPr marL="342900" indent="-342900">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Captured offline, sent when back in range</a:t>
            </a:r>
            <a:endParaRPr lang="en-US" sz="1250" dirty="0"/>
          </a:p>
          <a:p>
            <a:pPr marL="342900" indent="-342900">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Current stock, minimum and lead time shown first</a:t>
            </a:r>
            <a:endParaRPr lang="en-US" sz="1250" dirty="0"/>
          </a:p>
          <a:p>
            <a:pPr marL="342900" indent="-342900">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Told when his machine closed the cell</a:t>
            </a:r>
            <a:endParaRPr lang="en-US" sz="1250" dirty="0"/>
          </a:p>
        </p:txBody>
      </p:sp>
      <p:sp>
        <p:nvSpPr>
          <p:cNvPr id="10" name="Text 8"/>
          <p:cNvSpPr txBox="1"/>
          <p:nvPr/>
        </p:nvSpPr>
        <p:spPr>
          <a:xfrm>
            <a:off x="594360" y="5486400"/>
            <a:ext cx="10972800" cy="502920"/>
          </a:xfrm>
          <a:prstGeom prst="rect">
            <a:avLst/>
          </a:prstGeom>
          <a:noFill/>
          <a:ln/>
        </p:spPr>
        <p:txBody>
          <a:bodyPr wrap="square" lIns="0" tIns="0" rIns="0" bIns="0" rtlCol="0" anchor="ctr"/>
          <a:lstStyle/>
          <a:p>
            <a:pPr indent="0" marL="0">
              <a:buNone/>
            </a:pPr>
            <a:r>
              <a:rPr lang="en-US" sz="1250" i="1" dirty="0">
                <a:solidFill>
                  <a:srgbClr val="0C3549"/>
                </a:solidFill>
                <a:latin typeface="Calibri" pitchFamily="34" charset="0"/>
                <a:ea typeface="Calibri" pitchFamily="34" charset="-122"/>
                <a:cs typeface="Calibri" pitchFamily="34" charset="-120"/>
              </a:rPr>
              <a:t>The lists, the nine flows and the dashboard are unchanged. The app is an alternative front end over the same data - which is why Forms stays available as the fallback.</a:t>
            </a:r>
            <a:endParaRPr lang="en-US" sz="1250" dirty="0"/>
          </a:p>
        </p:txBody>
      </p:sp>
      <p:sp>
        <p:nvSpPr>
          <p:cNvPr id="11" name="Text 9"/>
          <p:cNvSpPr txBox="1"/>
          <p:nvPr/>
        </p:nvSpPr>
        <p:spPr>
          <a:xfrm>
            <a:off x="594360" y="6355080"/>
            <a:ext cx="10972800" cy="274320"/>
          </a:xfrm>
          <a:prstGeom prst="rect">
            <a:avLst/>
          </a:prstGeom>
          <a:noFill/>
          <a:ln/>
        </p:spPr>
        <p:txBody>
          <a:bodyPr wrap="square" lIns="0" tIns="0" rIns="0" bIns="0" rtlCol="0" anchor="ctr"/>
          <a:lstStyle/>
          <a:p>
            <a:pPr indent="0" marL="0">
              <a:buNone/>
            </a:pPr>
            <a:r>
              <a:rPr lang="en-US" sz="900" dirty="0">
                <a:solidFill>
                  <a:srgbClr val="7B8794"/>
                </a:solidFill>
                <a:latin typeface="Calibri" pitchFamily="34" charset="0"/>
                <a:ea typeface="Calibri" pitchFamily="34" charset="-122"/>
                <a:cs typeface="Calibri" pitchFamily="34" charset="-120"/>
              </a:rPr>
              <a:t>Full screen-by-screen specification already written: powerapps/CANVAS_APP_BUILD.md</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11480"/>
            <a:ext cx="10972800" cy="685800"/>
          </a:xfrm>
          <a:prstGeom prst="rect">
            <a:avLst/>
          </a:prstGeom>
          <a:noFill/>
          <a:ln/>
        </p:spPr>
        <p:txBody>
          <a:bodyPr wrap="square" lIns="0" tIns="0" rIns="0" bIns="0" rtlCol="0" anchor="ctr"/>
          <a:lstStyle/>
          <a:p>
            <a:pPr indent="0" marL="0">
              <a:buNone/>
            </a:pPr>
            <a:r>
              <a:rPr lang="en-US" sz="3200" b="1" dirty="0">
                <a:solidFill>
                  <a:srgbClr val="0C3549"/>
                </a:solidFill>
                <a:latin typeface="Cambria" pitchFamily="34" charset="0"/>
                <a:ea typeface="Cambria" pitchFamily="34" charset="-122"/>
                <a:cs typeface="Cambria" pitchFamily="34" charset="-120"/>
              </a:rPr>
              <a:t>What it costs, and what it has to prevent</a:t>
            </a:r>
            <a:endParaRPr lang="en-US" sz="3200" dirty="0"/>
          </a:p>
        </p:txBody>
      </p:sp>
      <p:sp>
        <p:nvSpPr>
          <p:cNvPr id="3" name="Text 1"/>
          <p:cNvSpPr txBox="1"/>
          <p:nvPr/>
        </p:nvSpPr>
        <p:spPr>
          <a:xfrm>
            <a:off x="594360" y="1078992"/>
            <a:ext cx="10972800" cy="365760"/>
          </a:xfrm>
          <a:prstGeom prst="rect">
            <a:avLst/>
          </a:prstGeom>
          <a:noFill/>
          <a:ln/>
        </p:spPr>
        <p:txBody>
          <a:bodyPr wrap="square" lIns="0" tIns="0" rIns="0" bIns="0" rtlCol="0" anchor="ctr"/>
          <a:lstStyle/>
          <a:p>
            <a:pPr indent="0" marL="0">
              <a:buNone/>
            </a:pPr>
            <a:r>
              <a:rPr lang="en-US" sz="1400" i="1" dirty="0">
                <a:solidFill>
                  <a:srgbClr val="7B8794"/>
                </a:solidFill>
                <a:latin typeface="Calibri" pitchFamily="34" charset="0"/>
                <a:ea typeface="Calibri" pitchFamily="34" charset="-122"/>
                <a:cs typeface="Calibri" pitchFamily="34" charset="-120"/>
              </a:rPr>
              <a:t>Two numbers the plant owns. Fill them in and the decision makes itself.</a:t>
            </a:r>
            <a:endParaRPr lang="en-US" sz="1400" dirty="0"/>
          </a:p>
        </p:txBody>
      </p:sp>
      <p:sp>
        <p:nvSpPr>
          <p:cNvPr id="4" name="Text 2"/>
          <p:cNvSpPr txBox="1"/>
          <p:nvPr/>
        </p:nvSpPr>
        <p:spPr>
          <a:xfrm>
            <a:off x="594360" y="1600200"/>
            <a:ext cx="5486400" cy="365760"/>
          </a:xfrm>
          <a:prstGeom prst="rect">
            <a:avLst/>
          </a:prstGeom>
          <a:noFill/>
          <a:ln/>
        </p:spPr>
        <p:txBody>
          <a:bodyPr wrap="square" lIns="0" tIns="0" rIns="0" bIns="0" rtlCol="0" anchor="ctr"/>
          <a:lstStyle/>
          <a:p>
            <a:pPr indent="0" marL="0">
              <a:buNone/>
            </a:pPr>
            <a:r>
              <a:rPr lang="en-US" sz="1500" b="1" dirty="0">
                <a:solidFill>
                  <a:srgbClr val="0C3549"/>
                </a:solidFill>
                <a:latin typeface="Cambria" pitchFamily="34" charset="0"/>
                <a:ea typeface="Cambria" pitchFamily="34" charset="-122"/>
                <a:cs typeface="Cambria" pitchFamily="34" charset="-120"/>
              </a:rPr>
              <a:t>6 technicians + 2 supervisors  =  8 licences</a:t>
            </a:r>
            <a:endParaRPr lang="en-US" sz="1500" dirty="0"/>
          </a:p>
        </p:txBody>
      </p:sp>
      <p:sp>
        <p:nvSpPr>
          <p:cNvPr id="5" name="Text 3"/>
          <p:cNvSpPr txBox="1"/>
          <p:nvPr/>
        </p:nvSpPr>
        <p:spPr>
          <a:xfrm>
            <a:off x="594360" y="1965960"/>
            <a:ext cx="5486400" cy="54864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Standard connectors only - SharePoint and Office 365 Users. No Dataverse, no premium connector, no custom connector.</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94360" y="2743200"/>
          <a:ext cx="10972800" cy="914400"/>
        </p:xfrm>
        <a:graphic>
          <a:graphicData uri="http://schemas.openxmlformats.org/drawingml/2006/table">
            <a:tbl>
              <a:tblPr/>
              <a:tblGrid>
                <a:gridCol w="2377440"/>
                <a:gridCol w="2011680"/>
                <a:gridCol w="2194560"/>
                <a:gridCol w="2194560"/>
                <a:gridCol w="2194560"/>
              </a:tblGrid>
              <a:tr h="384048">
                <a:tc>
                  <a:txBody>
                    <a:bodyPr/>
                    <a:lstStyle/>
                    <a:p>
                      <a:pPr algn="l" indent="0" marL="0">
                        <a:buNone/>
                      </a:pPr>
                      <a:r>
                        <a:rPr lang="en-US" sz="1200" b="1" dirty="0">
                          <a:solidFill>
                            <a:srgbClr val="1F2933"/>
                          </a:solidFill>
                          <a:latin typeface="Calibri" pitchFamily="34" charset="0"/>
                          <a:ea typeface="Calibri" pitchFamily="34" charset="-122"/>
                          <a:cs typeface="Calibri" pitchFamily="34" charset="-120"/>
                        </a:rPr>
                        <a:t>Licence rate</a:t>
                      </a:r>
                      <a:endParaRPr lang="en-US" sz="120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F2933"/>
                          </a:solidFill>
                          <a:latin typeface="Calibri" pitchFamily="34" charset="0"/>
                          <a:ea typeface="Calibri" pitchFamily="34" charset="-122"/>
                          <a:cs typeface="Calibri" pitchFamily="34" charset="-120"/>
                        </a:rPr>
                        <a:t>Annual, 8 users</a:t>
                      </a:r>
                      <a:endParaRPr lang="en-US" sz="120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F2933"/>
                          </a:solidFill>
                          <a:latin typeface="Calibri" pitchFamily="34" charset="0"/>
                          <a:ea typeface="Calibri" pitchFamily="34" charset="-122"/>
                          <a:cs typeface="Calibri" pitchFamily="34" charset="-120"/>
                        </a:rPr>
                        <a:t>Break-even at</a:t>
                      </a:r>
                      <a:endParaRPr lang="en-US" sz="1200" dirty="0">
                        <a:latin typeface="Calibri" charset="0"/>
                        <a:ea typeface="Calibri" charset="0"/>
                        <a:cs typeface="Calibri" charset="0"/>
                      </a:endParaRPr>
                    </a:p>
                    <a:p>
                      <a:pPr algn="l" indent="0" marL="0">
                        <a:buNone/>
                      </a:pPr>
                      <a:r>
                        <a:rPr lang="en-US" sz="1200" b="1" dirty="0">
                          <a:solidFill>
                            <a:srgbClr val="1F2933"/>
                          </a:solidFill>
                          <a:latin typeface="Calibri" pitchFamily="34" charset="0"/>
                          <a:ea typeface="Calibri" pitchFamily="34" charset="-122"/>
                          <a:cs typeface="Calibri" pitchFamily="34" charset="-120"/>
                        </a:rPr>
                        <a:t>₹5,000/h</a:t>
                      </a:r>
                      <a:endParaRPr lang="en-US" sz="120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F2933"/>
                          </a:solidFill>
                          <a:latin typeface="Calibri" pitchFamily="34" charset="0"/>
                          <a:ea typeface="Calibri" pitchFamily="34" charset="-122"/>
                          <a:cs typeface="Calibri" pitchFamily="34" charset="-120"/>
                        </a:rPr>
                        <a:t>Break-even at</a:t>
                      </a:r>
                      <a:endParaRPr lang="en-US" sz="1200" dirty="0">
                        <a:latin typeface="Calibri" charset="0"/>
                        <a:ea typeface="Calibri" charset="0"/>
                        <a:cs typeface="Calibri" charset="0"/>
                      </a:endParaRPr>
                    </a:p>
                    <a:p>
                      <a:pPr algn="l" indent="0" marL="0">
                        <a:buNone/>
                      </a:pPr>
                      <a:r>
                        <a:rPr lang="en-US" sz="1200" b="1" dirty="0">
                          <a:solidFill>
                            <a:srgbClr val="1F2933"/>
                          </a:solidFill>
                          <a:latin typeface="Calibri" pitchFamily="34" charset="0"/>
                          <a:ea typeface="Calibri" pitchFamily="34" charset="-122"/>
                          <a:cs typeface="Calibri" pitchFamily="34" charset="-120"/>
                        </a:rPr>
                        <a:t>₹10,000/h</a:t>
                      </a:r>
                      <a:endParaRPr lang="en-US" sz="120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F2933"/>
                          </a:solidFill>
                          <a:latin typeface="Calibri" pitchFamily="34" charset="0"/>
                          <a:ea typeface="Calibri" pitchFamily="34" charset="-122"/>
                          <a:cs typeface="Calibri" pitchFamily="34" charset="-120"/>
                        </a:rPr>
                        <a:t>Break-even at</a:t>
                      </a:r>
                      <a:endParaRPr lang="en-US" sz="1200" dirty="0">
                        <a:latin typeface="Calibri" charset="0"/>
                        <a:ea typeface="Calibri" charset="0"/>
                        <a:cs typeface="Calibri" charset="0"/>
                      </a:endParaRPr>
                    </a:p>
                    <a:p>
                      <a:pPr algn="l" indent="0" marL="0">
                        <a:buNone/>
                      </a:pPr>
                      <a:r>
                        <a:rPr lang="en-US" sz="1200" b="1" dirty="0">
                          <a:solidFill>
                            <a:srgbClr val="1F2933"/>
                          </a:solidFill>
                          <a:latin typeface="Calibri" pitchFamily="34" charset="0"/>
                          <a:ea typeface="Calibri" pitchFamily="34" charset="-122"/>
                          <a:cs typeface="Calibri" pitchFamily="34" charset="-120"/>
                        </a:rPr>
                        <a:t>₹20,000/h</a:t>
                      </a:r>
                      <a:endParaRPr lang="en-US" sz="120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₹500 / user / mo</a:t>
                      </a:r>
                      <a:endParaRPr lang="en-US" sz="120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₹48,000</a:t>
                      </a:r>
                      <a:endParaRPr lang="en-US" sz="120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9.6 h  (28%)</a:t>
                      </a:r>
                      <a:endParaRPr lang="en-US" sz="120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4.8 h  (14%)</a:t>
                      </a:r>
                      <a:endParaRPr lang="en-US" sz="120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2.4 h  (7%)</a:t>
                      </a:r>
                      <a:endParaRPr lang="en-US" sz="120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₹1,000 / user / mo</a:t>
                      </a:r>
                      <a:endParaRPr lang="en-US" sz="120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₹96,000</a:t>
                      </a:r>
                      <a:endParaRPr lang="en-US" sz="120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19.2 h  (56%)</a:t>
                      </a:r>
                      <a:endParaRPr lang="en-US" sz="120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9.6 h  (28%)</a:t>
                      </a:r>
                      <a:endParaRPr lang="en-US" sz="120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4.8 h  (14%)</a:t>
                      </a:r>
                      <a:endParaRPr lang="en-US" sz="120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₹1,500 / user / mo</a:t>
                      </a:r>
                      <a:endParaRPr lang="en-US" sz="120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₹144,000</a:t>
                      </a:r>
                      <a:endParaRPr lang="en-US" sz="120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28.8 h  (84%)</a:t>
                      </a:r>
                      <a:endParaRPr lang="en-US" sz="120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14.4 h  (42%)</a:t>
                      </a:r>
                      <a:endParaRPr lang="en-US" sz="120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7.2 h  (21%)</a:t>
                      </a:r>
                      <a:endParaRPr lang="en-US" sz="120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₹2,000 / user / mo</a:t>
                      </a:r>
                      <a:endParaRPr lang="en-US" sz="120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₹192,000</a:t>
                      </a:r>
                      <a:endParaRPr lang="en-US" sz="120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38.4 h  (112%)</a:t>
                      </a:r>
                      <a:endParaRPr lang="en-US" sz="120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19.2 h  (56%)</a:t>
                      </a:r>
                      <a:endParaRPr lang="en-US" sz="120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9.6 h  (28%)</a:t>
                      </a:r>
                      <a:endParaRPr lang="en-US" sz="120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94360" y="5074920"/>
            <a:ext cx="10972800" cy="685800"/>
          </a:xfrm>
          <a:prstGeom prst="rect">
            <a:avLst/>
          </a:prstGeom>
          <a:noFill/>
          <a:ln/>
        </p:spPr>
        <p:txBody>
          <a:bodyPr wrap="square" lIns="0" tIns="0" rIns="0" bIns="0" rtlCol="0" anchor="ctr"/>
          <a:lstStyle/>
          <a:p>
            <a:pPr indent="0" marL="0">
              <a:lnSpc>
                <a:spcPct val="120000"/>
              </a:lnSpc>
              <a:buNone/>
            </a:pPr>
            <a:r>
              <a:rPr lang="en-US" sz="1300" dirty="0">
                <a:solidFill>
                  <a:srgbClr val="0C3549"/>
                </a:solidFill>
                <a:latin typeface="Calibri" pitchFamily="34" charset="0"/>
                <a:ea typeface="Calibri" pitchFamily="34" charset="-122"/>
                <a:cs typeface="Calibri" pitchFamily="34" charset="-120"/>
              </a:rPr>
              <a:t>Read a row: at ₹1,500 per user per month and ₹10,000 an hour of downtime, the licence pays for itself if it prevents 14.4 hours a year — 51% of the 28.1 hours currently lost to breakdowns that follow a PM.</a:t>
            </a:r>
            <a:endParaRPr lang="en-US" sz="1300" dirty="0"/>
          </a:p>
        </p:txBody>
      </p:sp>
      <p:sp>
        <p:nvSpPr>
          <p:cNvPr id="8" name="Text 5"/>
          <p:cNvSpPr txBox="1"/>
          <p:nvPr/>
        </p:nvSpPr>
        <p:spPr>
          <a:xfrm>
            <a:off x="594360" y="6355080"/>
            <a:ext cx="10972800" cy="274320"/>
          </a:xfrm>
          <a:prstGeom prst="rect">
            <a:avLst/>
          </a:prstGeom>
          <a:noFill/>
          <a:ln/>
        </p:spPr>
        <p:txBody>
          <a:bodyPr wrap="square" lIns="0" tIns="0" rIns="0" bIns="0" rtlCol="0" anchor="ctr"/>
          <a:lstStyle/>
          <a:p>
            <a:pPr indent="0" marL="0">
              <a:buNone/>
            </a:pPr>
            <a:r>
              <a:rPr lang="en-US" sz="900" dirty="0">
                <a:solidFill>
                  <a:srgbClr val="7B8794"/>
                </a:solidFill>
                <a:latin typeface="Calibri" pitchFamily="34" charset="0"/>
                <a:ea typeface="Calibri" pitchFamily="34" charset="-122"/>
                <a:cs typeface="Calibri" pitchFamily="34" charset="-120"/>
              </a:rPr>
              <a:t>Licence rates are illustrative — confirm current pricing with your Microsoft partner. Downtime cost per hour is the plant's own figure.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3549"/>
        </a:solidFill>
      </p:bgPr>
    </p:bg>
    <p:spTree>
      <p:nvGrpSpPr>
        <p:cNvPr id="1" name=""/>
        <p:cNvGrpSpPr/>
        <p:nvPr/>
      </p:nvGrpSpPr>
      <p:grpSpPr>
        <a:xfrm>
          <a:off x="0" y="0"/>
          <a:ext cx="0" cy="0"/>
          <a:chOff x="0" y="0"/>
          <a:chExt cx="0" cy="0"/>
        </a:xfrm>
      </p:grpSpPr>
      <p:sp>
        <p:nvSpPr>
          <p:cNvPr id="2" name="Text 0"/>
          <p:cNvSpPr txBox="1"/>
          <p:nvPr/>
        </p:nvSpPr>
        <p:spPr>
          <a:xfrm>
            <a:off x="594360" y="640080"/>
            <a:ext cx="7315200" cy="64008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The ask</a:t>
            </a:r>
            <a:endParaRPr lang="en-US" sz="3600" dirty="0"/>
          </a:p>
        </p:txBody>
      </p:sp>
      <p:sp>
        <p:nvSpPr>
          <p:cNvPr id="3" name="Text 1"/>
          <p:cNvSpPr txBox="1"/>
          <p:nvPr/>
        </p:nvSpPr>
        <p:spPr>
          <a:xfrm>
            <a:off x="594360" y="1298448"/>
            <a:ext cx="8229600" cy="365760"/>
          </a:xfrm>
          <a:prstGeom prst="rect">
            <a:avLst/>
          </a:prstGeom>
          <a:noFill/>
          <a:ln/>
        </p:spPr>
        <p:txBody>
          <a:bodyPr wrap="square" lIns="0" tIns="0" rIns="0" bIns="0" rtlCol="0" anchor="ctr"/>
          <a:lstStyle/>
          <a:p>
            <a:pPr indent="0" marL="0">
              <a:buNone/>
            </a:pPr>
            <a:r>
              <a:rPr lang="en-US" sz="1600" dirty="0">
                <a:solidFill>
                  <a:srgbClr val="F0A202"/>
                </a:solidFill>
                <a:latin typeface="Calibri" pitchFamily="34" charset="0"/>
                <a:ea typeface="Calibri" pitchFamily="34" charset="-122"/>
                <a:cs typeface="Calibri" pitchFamily="34" charset="-120"/>
              </a:rPr>
              <a:t>Eight Power Apps licences, and four cells to prove it on.</a:t>
            </a:r>
            <a:endParaRPr lang="en-US" sz="1600" dirty="0"/>
          </a:p>
        </p:txBody>
      </p:sp>
      <p:sp>
        <p:nvSpPr>
          <p:cNvPr id="4" name="Shape 2"/>
          <p:cNvSpPr/>
          <p:nvPr/>
        </p:nvSpPr>
        <p:spPr>
          <a:xfrm>
            <a:off x="594360" y="2057400"/>
            <a:ext cx="566928" cy="566928"/>
          </a:xfrm>
          <a:prstGeom prst="ellipse">
            <a:avLst/>
          </a:prstGeom>
          <a:solidFill>
            <a:srgbClr val="F0A202"/>
          </a:solidFill>
          <a:ln/>
        </p:spPr>
      </p:sp>
      <p:sp>
        <p:nvSpPr>
          <p:cNvPr id="5" name="Text 3"/>
          <p:cNvSpPr txBox="1"/>
          <p:nvPr/>
        </p:nvSpPr>
        <p:spPr>
          <a:xfrm>
            <a:off x="594360" y="2057400"/>
            <a:ext cx="566928" cy="566928"/>
          </a:xfrm>
          <a:prstGeom prst="rect">
            <a:avLst/>
          </a:prstGeom>
          <a:noFill/>
          <a:ln/>
        </p:spPr>
        <p:txBody>
          <a:bodyPr wrap="square" lIns="0" tIns="0" rIns="0" bIns="0" rtlCol="0" anchor="ctr"/>
          <a:lstStyle/>
          <a:p>
            <a:pPr algn="ctr" indent="0" marL="0">
              <a:buNone/>
            </a:pPr>
            <a:r>
              <a:rPr lang="en-US" sz="1612" b="1" dirty="0">
                <a:solidFill>
                  <a:srgbClr val="0C3549"/>
                </a:solidFill>
                <a:latin typeface="Cambria" pitchFamily="34" charset="0"/>
                <a:ea typeface="Cambria" pitchFamily="34" charset="-122"/>
                <a:cs typeface="Cambria" pitchFamily="34" charset="-120"/>
              </a:rPr>
              <a:t>1</a:t>
            </a:r>
            <a:endParaRPr lang="en-US" sz="1612" dirty="0"/>
          </a:p>
        </p:txBody>
      </p:sp>
      <p:sp>
        <p:nvSpPr>
          <p:cNvPr id="6" name="Text 4"/>
          <p:cNvSpPr txBox="1"/>
          <p:nvPr/>
        </p:nvSpPr>
        <p:spPr>
          <a:xfrm>
            <a:off x="1417320" y="2075688"/>
            <a:ext cx="329184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Approve 8 licences</a:t>
            </a:r>
            <a:endParaRPr lang="en-US" sz="1700" dirty="0"/>
          </a:p>
        </p:txBody>
      </p:sp>
      <p:sp>
        <p:nvSpPr>
          <p:cNvPr id="7" name="Text 5"/>
          <p:cNvSpPr txBox="1"/>
          <p:nvPr/>
        </p:nvSpPr>
        <p:spPr>
          <a:xfrm>
            <a:off x="4800600" y="2084832"/>
            <a:ext cx="6766560" cy="685800"/>
          </a:xfrm>
          <a:prstGeom prst="rect">
            <a:avLst/>
          </a:prstGeom>
          <a:noFill/>
          <a:ln/>
        </p:spPr>
        <p:txBody>
          <a:bodyPr wrap="square" lIns="0" tIns="0" rIns="0" bIns="0" rtlCol="0" anchor="ctr"/>
          <a:lstStyle/>
          <a:p>
            <a:pPr indent="0" marL="0">
              <a:lnSpc>
                <a:spcPct val="115000"/>
              </a:lnSpc>
              <a:buNone/>
            </a:pPr>
            <a:r>
              <a:rPr lang="en-US" sz="1300" dirty="0">
                <a:solidFill>
                  <a:srgbClr val="B9CBD4"/>
                </a:solidFill>
                <a:latin typeface="Calibri" pitchFamily="34" charset="0"/>
                <a:ea typeface="Calibri" pitchFamily="34" charset="-122"/>
                <a:cs typeface="Calibri" pitchFamily="34" charset="-120"/>
              </a:rPr>
              <a:t>6 technicians, 2 supervisors. Standard connectors only.</a:t>
            </a:r>
            <a:endParaRPr lang="en-US" sz="1300" dirty="0"/>
          </a:p>
        </p:txBody>
      </p:sp>
      <p:sp>
        <p:nvSpPr>
          <p:cNvPr id="8" name="Shape 6"/>
          <p:cNvSpPr/>
          <p:nvPr/>
        </p:nvSpPr>
        <p:spPr>
          <a:xfrm>
            <a:off x="594360" y="3108960"/>
            <a:ext cx="566928" cy="566928"/>
          </a:xfrm>
          <a:prstGeom prst="ellipse">
            <a:avLst/>
          </a:prstGeom>
          <a:solidFill>
            <a:srgbClr val="F0A202"/>
          </a:solidFill>
          <a:ln/>
        </p:spPr>
      </p:sp>
      <p:sp>
        <p:nvSpPr>
          <p:cNvPr id="9" name="Text 7"/>
          <p:cNvSpPr txBox="1"/>
          <p:nvPr/>
        </p:nvSpPr>
        <p:spPr>
          <a:xfrm>
            <a:off x="594360" y="3108960"/>
            <a:ext cx="566928" cy="566928"/>
          </a:xfrm>
          <a:prstGeom prst="rect">
            <a:avLst/>
          </a:prstGeom>
          <a:noFill/>
          <a:ln/>
        </p:spPr>
        <p:txBody>
          <a:bodyPr wrap="square" lIns="0" tIns="0" rIns="0" bIns="0" rtlCol="0" anchor="ctr"/>
          <a:lstStyle/>
          <a:p>
            <a:pPr algn="ctr" indent="0" marL="0">
              <a:buNone/>
            </a:pPr>
            <a:r>
              <a:rPr lang="en-US" sz="1612" b="1" dirty="0">
                <a:solidFill>
                  <a:srgbClr val="0C3549"/>
                </a:solidFill>
                <a:latin typeface="Cambria" pitchFamily="34" charset="0"/>
                <a:ea typeface="Cambria" pitchFamily="34" charset="-122"/>
                <a:cs typeface="Cambria" pitchFamily="34" charset="-120"/>
              </a:rPr>
              <a:t>2</a:t>
            </a:r>
            <a:endParaRPr lang="en-US" sz="1612" dirty="0"/>
          </a:p>
        </p:txBody>
      </p:sp>
      <p:sp>
        <p:nvSpPr>
          <p:cNvPr id="10" name="Text 8"/>
          <p:cNvSpPr txBox="1"/>
          <p:nvPr/>
        </p:nvSpPr>
        <p:spPr>
          <a:xfrm>
            <a:off x="1417320" y="3127248"/>
            <a:ext cx="329184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Pilot on 4 cells</a:t>
            </a:r>
            <a:endParaRPr lang="en-US" sz="1700" dirty="0"/>
          </a:p>
        </p:txBody>
      </p:sp>
      <p:sp>
        <p:nvSpPr>
          <p:cNvPr id="11" name="Text 9"/>
          <p:cNvSpPr txBox="1"/>
          <p:nvPr/>
        </p:nvSpPr>
        <p:spPr>
          <a:xfrm>
            <a:off x="4800600" y="3136392"/>
            <a:ext cx="6766560" cy="685800"/>
          </a:xfrm>
          <a:prstGeom prst="rect">
            <a:avLst/>
          </a:prstGeom>
          <a:noFill/>
          <a:ln/>
        </p:spPr>
        <p:txBody>
          <a:bodyPr wrap="square" lIns="0" tIns="0" rIns="0" bIns="0" rtlCol="0" anchor="ctr"/>
          <a:lstStyle/>
          <a:p>
            <a:pPr indent="0" marL="0">
              <a:lnSpc>
                <a:spcPct val="115000"/>
              </a:lnSpc>
              <a:buNone/>
            </a:pPr>
            <a:r>
              <a:rPr lang="en-US" sz="1300" dirty="0">
                <a:solidFill>
                  <a:srgbClr val="B9CBD4"/>
                </a:solidFill>
                <a:latin typeface="Calibri" pitchFamily="34" charset="0"/>
                <a:ea typeface="Calibri" pitchFamily="34" charset="-122"/>
                <a:cs typeface="Calibri" pitchFamily="34" charset="-120"/>
              </a:rPr>
              <a:t>Curing, Cap Fitting, Testing, Assembly - the four carrying 26.5 of the 28.1 hours (94%).</a:t>
            </a:r>
            <a:endParaRPr lang="en-US" sz="1300" dirty="0"/>
          </a:p>
        </p:txBody>
      </p:sp>
      <p:sp>
        <p:nvSpPr>
          <p:cNvPr id="12" name="Shape 10"/>
          <p:cNvSpPr/>
          <p:nvPr/>
        </p:nvSpPr>
        <p:spPr>
          <a:xfrm>
            <a:off x="594360" y="4160520"/>
            <a:ext cx="566928" cy="566928"/>
          </a:xfrm>
          <a:prstGeom prst="ellipse">
            <a:avLst/>
          </a:prstGeom>
          <a:solidFill>
            <a:srgbClr val="F0A202"/>
          </a:solidFill>
          <a:ln/>
        </p:spPr>
      </p:sp>
      <p:sp>
        <p:nvSpPr>
          <p:cNvPr id="13" name="Text 11"/>
          <p:cNvSpPr txBox="1"/>
          <p:nvPr/>
        </p:nvSpPr>
        <p:spPr>
          <a:xfrm>
            <a:off x="594360" y="4160520"/>
            <a:ext cx="566928" cy="566928"/>
          </a:xfrm>
          <a:prstGeom prst="rect">
            <a:avLst/>
          </a:prstGeom>
          <a:noFill/>
          <a:ln/>
        </p:spPr>
        <p:txBody>
          <a:bodyPr wrap="square" lIns="0" tIns="0" rIns="0" bIns="0" rtlCol="0" anchor="ctr"/>
          <a:lstStyle/>
          <a:p>
            <a:pPr algn="ctr" indent="0" marL="0">
              <a:buNone/>
            </a:pPr>
            <a:r>
              <a:rPr lang="en-US" sz="1612" b="1" dirty="0">
                <a:solidFill>
                  <a:srgbClr val="0C3549"/>
                </a:solidFill>
                <a:latin typeface="Cambria" pitchFamily="34" charset="0"/>
                <a:ea typeface="Cambria" pitchFamily="34" charset="-122"/>
                <a:cs typeface="Cambria" pitchFamily="34" charset="-120"/>
              </a:rPr>
              <a:t>3</a:t>
            </a:r>
            <a:endParaRPr lang="en-US" sz="1612" dirty="0"/>
          </a:p>
        </p:txBody>
      </p:sp>
      <p:sp>
        <p:nvSpPr>
          <p:cNvPr id="14" name="Text 12"/>
          <p:cNvSpPr txBox="1"/>
          <p:nvPr/>
        </p:nvSpPr>
        <p:spPr>
          <a:xfrm>
            <a:off x="1417320" y="4178808"/>
            <a:ext cx="329184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Review after 6 months</a:t>
            </a:r>
            <a:endParaRPr lang="en-US" sz="1700" dirty="0"/>
          </a:p>
        </p:txBody>
      </p:sp>
      <p:sp>
        <p:nvSpPr>
          <p:cNvPr id="15" name="Text 13"/>
          <p:cNvSpPr txBox="1"/>
          <p:nvPr/>
        </p:nvSpPr>
        <p:spPr>
          <a:xfrm>
            <a:off x="4800600" y="4187952"/>
            <a:ext cx="6766560" cy="685800"/>
          </a:xfrm>
          <a:prstGeom prst="rect">
            <a:avLst/>
          </a:prstGeom>
          <a:noFill/>
          <a:ln/>
        </p:spPr>
        <p:txBody>
          <a:bodyPr wrap="square" lIns="0" tIns="0" rIns="0" bIns="0" rtlCol="0" anchor="ctr"/>
          <a:lstStyle/>
          <a:p>
            <a:pPr indent="0" marL="0">
              <a:lnSpc>
                <a:spcPct val="115000"/>
              </a:lnSpc>
              <a:buNone/>
            </a:pPr>
            <a:r>
              <a:rPr lang="en-US" sz="1300" dirty="0">
                <a:solidFill>
                  <a:srgbClr val="B9CBD4"/>
                </a:solidFill>
                <a:latin typeface="Calibri" pitchFamily="34" charset="0"/>
                <a:ea typeface="Calibri" pitchFamily="34" charset="-122"/>
                <a:cs typeface="Calibri" pitchFamily="34" charset="-120"/>
              </a:rPr>
              <a:t>Against post-PM breakdown hours on those four cells versus the other four.</a:t>
            </a:r>
            <a:endParaRPr lang="en-US" sz="1300" dirty="0"/>
          </a:p>
        </p:txBody>
      </p:sp>
      <p:sp>
        <p:nvSpPr>
          <p:cNvPr id="16" name="Shape 14"/>
          <p:cNvSpPr/>
          <p:nvPr/>
        </p:nvSpPr>
        <p:spPr>
          <a:xfrm>
            <a:off x="594360" y="5349240"/>
            <a:ext cx="10972800" cy="868680"/>
          </a:xfrm>
          <a:prstGeom prst="roundRect">
            <a:avLst>
              <a:gd name="adj" fmla="val 6316"/>
            </a:avLst>
          </a:prstGeom>
          <a:solidFill>
            <a:srgbClr val="16455C"/>
          </a:solidFill>
          <a:ln/>
        </p:spPr>
      </p:sp>
      <p:sp>
        <p:nvSpPr>
          <p:cNvPr id="17" name="Text 15"/>
          <p:cNvSpPr txBox="1"/>
          <p:nvPr/>
        </p:nvSpPr>
        <p:spPr>
          <a:xfrm>
            <a:off x="914400" y="5532120"/>
            <a:ext cx="10332720" cy="548640"/>
          </a:xfrm>
          <a:prstGeom prst="rect">
            <a:avLst/>
          </a:prstGeom>
          <a:noFill/>
          <a:ln/>
        </p:spPr>
        <p:txBody>
          <a:bodyPr wrap="square" lIns="0" tIns="0" rIns="0" bIns="0" rtlCol="0" anchor="ctr"/>
          <a:lstStyle/>
          <a:p>
            <a:pPr indent="0" marL="0">
              <a:lnSpc>
                <a:spcPct val="115000"/>
              </a:lnSpc>
              <a:buNone/>
            </a:pPr>
            <a:r>
              <a:rPr lang="en-US" sz="1350" dirty="0">
                <a:solidFill>
                  <a:srgbClr val="B9CBD4"/>
                </a:solidFill>
                <a:latin typeface="Calibri" pitchFamily="34" charset="0"/>
                <a:ea typeface="Calibri" pitchFamily="34" charset="-122"/>
                <a:cs typeface="Calibri" pitchFamily="34" charset="-120"/>
              </a:rPr>
              <a:t>If the answer is no, nothing breaks. The system stays live on Forms, and this stays on the shelf as a costed option with the evidence attached.</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11480"/>
            <a:ext cx="10972800" cy="685800"/>
          </a:xfrm>
          <a:prstGeom prst="rect">
            <a:avLst/>
          </a:prstGeom>
          <a:noFill/>
          <a:ln/>
        </p:spPr>
        <p:txBody>
          <a:bodyPr wrap="square" lIns="0" tIns="0" rIns="0" bIns="0" rtlCol="0" anchor="ctr"/>
          <a:lstStyle/>
          <a:p>
            <a:pPr indent="0" marL="0">
              <a:buNone/>
            </a:pPr>
            <a:r>
              <a:rPr lang="en-US" sz="3200" b="1" dirty="0">
                <a:solidFill>
                  <a:srgbClr val="0C3549"/>
                </a:solidFill>
                <a:latin typeface="Cambria" pitchFamily="34" charset="0"/>
                <a:ea typeface="Cambria" pitchFamily="34" charset="-122"/>
                <a:cs typeface="Cambria" pitchFamily="34" charset="-120"/>
              </a:rPr>
              <a:t>Where every number came from</a:t>
            </a:r>
            <a:endParaRPr lang="en-US" sz="3200" dirty="0"/>
          </a:p>
        </p:txBody>
      </p:sp>
      <p:sp>
        <p:nvSpPr>
          <p:cNvPr id="3" name="Text 1"/>
          <p:cNvSpPr txBox="1"/>
          <p:nvPr/>
        </p:nvSpPr>
        <p:spPr>
          <a:xfrm>
            <a:off x="594360" y="1078992"/>
            <a:ext cx="10972800" cy="365760"/>
          </a:xfrm>
          <a:prstGeom prst="rect">
            <a:avLst/>
          </a:prstGeom>
          <a:noFill/>
          <a:ln/>
        </p:spPr>
        <p:txBody>
          <a:bodyPr wrap="square" lIns="0" tIns="0" rIns="0" bIns="0" rtlCol="0" anchor="ctr"/>
          <a:lstStyle/>
          <a:p>
            <a:pPr indent="0" marL="0">
              <a:buNone/>
            </a:pPr>
            <a:r>
              <a:rPr lang="en-US" sz="1400" i="1" dirty="0">
                <a:solidFill>
                  <a:srgbClr val="7B8794"/>
                </a:solidFill>
                <a:latin typeface="Calibri" pitchFamily="34" charset="0"/>
                <a:ea typeface="Calibri" pitchFamily="34" charset="-122"/>
                <a:cs typeface="Calibri" pitchFamily="34" charset="-120"/>
              </a:rPr>
              <a:t>So anyone can check them rather than take them on trust.</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94360" y="1691640"/>
          <a:ext cx="10972800" cy="914400"/>
        </p:xfrm>
        <a:graphic>
          <a:graphicData uri="http://schemas.openxmlformats.org/drawingml/2006/table">
            <a:tbl>
              <a:tblPr/>
              <a:tblGrid>
                <a:gridCol w="3200400"/>
                <a:gridCol w="2103120"/>
                <a:gridCol w="5669280"/>
              </a:tblGrid>
              <a:tr h="402336">
                <a:tc>
                  <a:txBody>
                    <a:bodyPr/>
                    <a:lstStyle/>
                    <a:p>
                      <a:pPr algn="l" indent="0" marL="0">
                        <a:buNone/>
                      </a:pPr>
                      <a:r>
                        <a:rPr lang="en-US" sz="1150" b="1" dirty="0">
                          <a:solidFill>
                            <a:srgbClr val="1F2933"/>
                          </a:solidFill>
                          <a:latin typeface="Calibri" pitchFamily="34" charset="0"/>
                          <a:ea typeface="Calibri" pitchFamily="34" charset="-122"/>
                          <a:cs typeface="Calibri" pitchFamily="34" charset="-120"/>
                        </a:rPr>
                        <a:t>Figure</a:t>
                      </a:r>
                      <a:endParaRPr lang="en-US" sz="115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F2933"/>
                          </a:solidFill>
                          <a:latin typeface="Calibri" pitchFamily="34" charset="0"/>
                          <a:ea typeface="Calibri" pitchFamily="34" charset="-122"/>
                          <a:cs typeface="Calibri" pitchFamily="34" charset="-120"/>
                        </a:rPr>
                        <a:t>Value</a:t>
                      </a:r>
                      <a:endParaRPr lang="en-US" sz="115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F2933"/>
                          </a:solidFill>
                          <a:latin typeface="Calibri" pitchFamily="34" charset="0"/>
                          <a:ea typeface="Calibri" pitchFamily="34" charset="-122"/>
                          <a:cs typeface="Calibri" pitchFamily="34" charset="-120"/>
                        </a:rPr>
                        <a:t>Source</a:t>
                      </a:r>
                      <a:endParaRPr lang="en-US" sz="115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r>
              <a:tr h="402336">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Annual production loss</a:t>
                      </a:r>
                      <a:endParaRPr lang="en-US" sz="115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299.5 h</a:t>
                      </a:r>
                      <a:endParaRPr lang="en-US" sz="115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Breakdown_Log, sum of Production_Loss_Min, 12 months</a:t>
                      </a:r>
                      <a:endParaRPr lang="en-US" sz="115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r>
              <a:tr h="402336">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Breakdowns within 7 days of a PM</a:t>
                      </a:r>
                      <a:endParaRPr lang="en-US" sz="115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7 of 88</a:t>
                      </a:r>
                      <a:endParaRPr lang="en-US" sz="115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Breakdown_Log paired to completed PM_WorkOrder, by cell, dated from the last machine scan</a:t>
                      </a:r>
                      <a:endParaRPr lang="en-US" sz="115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r>
              <a:tr h="402336">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Downtime from those breakdowns</a:t>
                      </a:r>
                      <a:endParaRPr lang="en-US" sz="115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28.1 h  (9.4%)</a:t>
                      </a:r>
                      <a:endParaRPr lang="en-US" sz="115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Same 7 rows, sum of Production_Loss_Min</a:t>
                      </a:r>
                      <a:endParaRPr lang="en-US" sz="115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r>
              <a:tr h="402336">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Concentration in four cells</a:t>
                      </a:r>
                      <a:endParaRPr lang="en-US" sz="115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26.5 h  (94%)</a:t>
                      </a:r>
                      <a:endParaRPr lang="en-US" sz="115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Curing 10.2, Cap Fitting 8.4, Testing 4.9, Assembly 3.0</a:t>
                      </a:r>
                      <a:endParaRPr lang="en-US" sz="115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r>
              <a:tr h="402336">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PM compliance / on-time</a:t>
                      </a:r>
                      <a:endParaRPr lang="en-US" sz="115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89.6%  /  65.1%</a:t>
                      </a:r>
                      <a:endParaRPr lang="en-US" sz="115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43 of 48 completed; 28 of 43 by the committed date</a:t>
                      </a:r>
                      <a:endParaRPr lang="en-US" sz="115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r>
              <a:tr h="402336">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Machines in the pilot cells</a:t>
                      </a:r>
                      <a:endParaRPr lang="en-US" sz="115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Machine_Master, Active = Yes, those four cells</a:t>
                      </a:r>
                      <a:endParaRPr lang="en-US" sz="115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r>
              <a:tr h="402336">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Technicians</a:t>
                      </a:r>
                      <a:endParaRPr lang="en-US" sz="115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Technician_Master, Active = Yes</a:t>
                      </a:r>
                      <a:endParaRPr lang="en-US" sz="1150" dirty="0">
                        <a:latin typeface="Calibri" charset="0"/>
                        <a:ea typeface="Calibri" charset="0"/>
                        <a:cs typeface="Calibri" charset="0"/>
                      </a:endParaRPr>
                    </a:p>
                  </a:txBody>
                  <a:tcPr marL="73152" marR="73152" marT="73152" marB="73152" anchor="ctr">
                    <a:lnL w="12700" cap="flat" cmpd="sng" algn="ctr">
                      <a:solidFill>
                        <a:srgbClr val="E1E8EB"/>
                      </a:solidFill>
                      <a:prstDash val="solid"/>
                      <a:round/>
                      <a:headEnd type="none" w="med" len="med"/>
                      <a:tailEnd type="none" w="med" len="med"/>
                    </a:lnL>
                    <a:lnR w="12700" cap="flat" cmpd="sng" algn="ctr">
                      <a:solidFill>
                        <a:srgbClr val="E1E8EB"/>
                      </a:solidFill>
                      <a:prstDash val="solid"/>
                      <a:round/>
                      <a:headEnd type="none" w="med" len="med"/>
                      <a:tailEnd type="none" w="med" len="med"/>
                    </a:lnR>
                    <a:lnT w="12700" cap="flat" cmpd="sng" algn="ctr">
                      <a:solidFill>
                        <a:srgbClr val="E1E8EB"/>
                      </a:solidFill>
                      <a:prstDash val="solid"/>
                      <a:round/>
                      <a:headEnd type="none" w="med" len="med"/>
                      <a:tailEnd type="none" w="med" len="med"/>
                    </a:lnT>
                    <a:lnB w="12700" cap="flat" cmpd="sng" algn="ctr">
                      <a:solidFill>
                        <a:srgbClr val="E1E8EB"/>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94360" y="4937760"/>
            <a:ext cx="10972800" cy="365760"/>
          </a:xfrm>
          <a:prstGeom prst="rect">
            <a:avLst/>
          </a:prstGeom>
          <a:noFill/>
          <a:ln/>
        </p:spPr>
        <p:txBody>
          <a:bodyPr wrap="square" lIns="0" tIns="0" rIns="0" bIns="0" rtlCol="0" anchor="ctr"/>
          <a:lstStyle/>
          <a:p>
            <a:pPr indent="0" marL="0">
              <a:buNone/>
            </a:pPr>
            <a:r>
              <a:rPr lang="en-US" sz="1300" b="1" dirty="0">
                <a:solidFill>
                  <a:srgbClr val="0C3549"/>
                </a:solidFill>
                <a:latin typeface="Courier New" pitchFamily="34" charset="0"/>
                <a:ea typeface="Courier New" pitchFamily="34" charset="-122"/>
                <a:cs typeface="Courier New" pitchFamily="34" charset="-120"/>
              </a:rPr>
              <a:t>Reproduce all of it:   python tools/verify_measures.py --asof 2026-08-30</a:t>
            </a:r>
            <a:endParaRPr lang="en-US" sz="1300" dirty="0"/>
          </a:p>
        </p:txBody>
      </p:sp>
      <p:sp>
        <p:nvSpPr>
          <p:cNvPr id="6" name="Text 3"/>
          <p:cNvSpPr txBox="1"/>
          <p:nvPr/>
        </p:nvSpPr>
        <p:spPr>
          <a:xfrm>
            <a:off x="594360" y="5349240"/>
            <a:ext cx="10972800" cy="822960"/>
          </a:xfrm>
          <a:prstGeom prst="rect">
            <a:avLst/>
          </a:prstGeom>
          <a:noFill/>
          <a:ln/>
        </p:spPr>
        <p:txBody>
          <a:bodyPr wrap="square" lIns="0" tIns="0" rIns="0" bIns="0" rtlCol="0" anchor="ctr"/>
          <a:lstStyle/>
          <a:p>
            <a:pPr indent="0" marL="0">
              <a:lnSpc>
                <a:spcPct val="120000"/>
              </a:lnSpc>
              <a:buNone/>
            </a:pPr>
            <a:r>
              <a:rPr lang="en-US" sz="1200" dirty="0">
                <a:solidFill>
                  <a:srgbClr val="7B8794"/>
                </a:solidFill>
                <a:latin typeface="Calibri" pitchFamily="34" charset="0"/>
                <a:ea typeface="Calibri" pitchFamily="34" charset="-122"/>
                <a:cs typeface="Calibri" pitchFamily="34" charset="-120"/>
              </a:rPr>
              <a:t>Every measure is recomputed there in plain Python, independently of the dashboard, so the two can be compared rather than one trusted. Licence rates on the previous slide are the only illustrative figures in this deck - confirm those with your Microsoft partner, and the downtime cost per hour with Finance.</a:t>
            </a:r>
            <a:endParaRPr lang="en-US" sz="1200" dirty="0"/>
          </a:p>
        </p:txBody>
      </p:sp>
      <p:sp>
        <p:nvSpPr>
          <p:cNvPr id="7" name="Text 4"/>
          <p:cNvSpPr txBox="1"/>
          <p:nvPr/>
        </p:nvSpPr>
        <p:spPr>
          <a:xfrm>
            <a:off x="594360" y="6355080"/>
            <a:ext cx="10972800" cy="274320"/>
          </a:xfrm>
          <a:prstGeom prst="rect">
            <a:avLst/>
          </a:prstGeom>
          <a:noFill/>
          <a:ln/>
        </p:spPr>
        <p:txBody>
          <a:bodyPr wrap="square" lIns="0" tIns="0" rIns="0" bIns="0" rtlCol="0" anchor="ctr"/>
          <a:lstStyle/>
          <a:p>
            <a:pPr indent="0" marL="0">
              <a:buNone/>
            </a:pPr>
            <a:r>
              <a:rPr lang="en-US" sz="900" dirty="0">
                <a:solidFill>
                  <a:srgbClr val="7B8794"/>
                </a:solidFill>
                <a:latin typeface="Calibri" pitchFamily="34" charset="0"/>
                <a:ea typeface="Calibri" pitchFamily="34" charset="-122"/>
                <a:cs typeface="Calibri" pitchFamily="34" charset="-120"/>
              </a:rPr>
              <a:t>Twelve months of plant data. 0 integrity errors on load; every figure re-derived from the source lists.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EPQPL Pondicherry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Apps licence request - PM system Phase 2</dc:title>
  <dc:subject>PptxGenJS Presentation</dc:subject>
  <dc:creator>Maintenance Engineering</dc:creator>
  <cp:lastModifiedBy>Maintenance Engineering</cp:lastModifiedBy>
  <cp:revision>1</cp:revision>
  <dcterms:created xsi:type="dcterms:W3CDTF">2026-09-14T08:01:16Z</dcterms:created>
  <dcterms:modified xsi:type="dcterms:W3CDTF">2026-09-14T08:01:16Z</dcterms:modified>
</cp:coreProperties>
</file>